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1" d="100"/>
          <a:sy n="81" d="100"/>
        </p:scale>
        <p:origin x="96" y="5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5/3/2026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5/3/2026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3154680"/>
            <a:ext cx="1828800" cy="73152"/>
          </a:xfrm>
          <a:prstGeom prst="rect">
            <a:avLst/>
          </a:prstGeom>
          <a:solidFill>
            <a:srgbClr val="FBC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57200"/>
            <a:ext cx="5486400" cy="365760"/>
          </a:xfrm>
          <a:prstGeom prst="rect">
            <a:avLst/>
          </a:prstGeom>
          <a:noFill/>
        </p:spPr>
        <p:txBody>
          <a:bodyPr wrap="square" lIns="45720" tIns="18288" rIns="45720" bIns="18288" anchor="t">
            <a:spAutoFit/>
          </a:bodyPr>
          <a:lstStyle/>
          <a:p>
            <a:pPr algn="l"/>
            <a:r>
              <a:rPr sz="1400" b="1">
                <a:solidFill>
                  <a:srgbClr val="FBC04A"/>
                </a:solidFill>
                <a:latin typeface="Arial"/>
              </a:rPr>
              <a:t>BRIGHT MOTORS</a:t>
            </a:r>
          </a:p>
        </p:txBody>
      </p:sp>
      <p:sp>
        <p:nvSpPr>
          <p:cNvPr id="5" name="TextBox 4"/>
          <p:cNvSpPr txBox="1"/>
          <p:nvPr/>
        </p:nvSpPr>
        <p:spPr>
          <a:xfrm>
            <a:off x="640080" y="2194560"/>
            <a:ext cx="7589520" cy="914400"/>
          </a:xfrm>
          <a:prstGeom prst="rect">
            <a:avLst/>
          </a:prstGeom>
          <a:noFill/>
        </p:spPr>
        <p:txBody>
          <a:bodyPr wrap="square" lIns="45720" tIns="18288" rIns="45720" bIns="18288" anchor="t">
            <a:spAutoFit/>
          </a:bodyPr>
          <a:lstStyle/>
          <a:p>
            <a:pPr algn="l"/>
            <a:r>
              <a:rPr sz="4800" b="1">
                <a:solidFill>
                  <a:srgbClr val="FFFFFF"/>
                </a:solidFill>
                <a:latin typeface="Arial"/>
              </a:rPr>
              <a:t>Car Sales Performance</a:t>
            </a:r>
          </a:p>
        </p:txBody>
      </p:sp>
      <p:sp>
        <p:nvSpPr>
          <p:cNvPr id="6" name="TextBox 5"/>
          <p:cNvSpPr txBox="1"/>
          <p:nvPr/>
        </p:nvSpPr>
        <p:spPr>
          <a:xfrm>
            <a:off x="640080" y="3383280"/>
            <a:ext cx="7589520" cy="640080"/>
          </a:xfrm>
          <a:prstGeom prst="rect">
            <a:avLst/>
          </a:prstGeom>
          <a:noFill/>
        </p:spPr>
        <p:txBody>
          <a:bodyPr wrap="square" lIns="45720" tIns="18288" rIns="45720" bIns="18288" anchor="t">
            <a:spAutoFit/>
          </a:bodyPr>
          <a:lstStyle/>
          <a:p>
            <a:pPr algn="l"/>
            <a:r>
              <a:rPr sz="2200" b="0">
                <a:solidFill>
                  <a:srgbClr val="CADCFC"/>
                </a:solidFill>
                <a:latin typeface="Arial"/>
              </a:rPr>
              <a:t>From raw data to executive insight</a:t>
            </a:r>
          </a:p>
        </p:txBody>
      </p:sp>
      <p:sp>
        <p:nvSpPr>
          <p:cNvPr id="7" name="TextBox 6"/>
          <p:cNvSpPr txBox="1"/>
          <p:nvPr/>
        </p:nvSpPr>
        <p:spPr>
          <a:xfrm>
            <a:off x="640080" y="5303520"/>
            <a:ext cx="7315200" cy="365760"/>
          </a:xfrm>
          <a:prstGeom prst="rect">
            <a:avLst/>
          </a:prstGeom>
          <a:noFill/>
        </p:spPr>
        <p:txBody>
          <a:bodyPr wrap="square" lIns="45720" tIns="18288" rIns="45720" bIns="18288" anchor="t">
            <a:spAutoFit/>
          </a:bodyPr>
          <a:lstStyle/>
          <a:p>
            <a:pPr algn="l"/>
            <a:r>
              <a:rPr sz="1400" b="1">
                <a:solidFill>
                  <a:srgbClr val="FBC04A"/>
                </a:solidFill>
                <a:latin typeface="Arial"/>
              </a:rPr>
              <a:t>Junior Data Analyst Case Study</a:t>
            </a:r>
          </a:p>
        </p:txBody>
      </p:sp>
      <p:sp>
        <p:nvSpPr>
          <p:cNvPr id="8" name="TextBox 7"/>
          <p:cNvSpPr txBox="1"/>
          <p:nvPr/>
        </p:nvSpPr>
        <p:spPr>
          <a:xfrm>
            <a:off x="640080" y="5623560"/>
            <a:ext cx="7315200" cy="320040"/>
          </a:xfrm>
          <a:prstGeom prst="rect">
            <a:avLst/>
          </a:prstGeom>
          <a:noFill/>
        </p:spPr>
        <p:txBody>
          <a:bodyPr wrap="square" lIns="45720" tIns="18288" rIns="45720" bIns="18288" anchor="t">
            <a:spAutoFit/>
          </a:bodyPr>
          <a:lstStyle/>
          <a:p>
            <a:pPr algn="l"/>
            <a:r>
              <a:rPr sz="1200" b="0">
                <a:solidFill>
                  <a:srgbClr val="CADCFC"/>
                </a:solidFill>
                <a:latin typeface="Arial"/>
              </a:rPr>
              <a:t>Prepared for the Head of Sales  •  May 2026</a:t>
            </a:r>
          </a:p>
        </p:txBody>
      </p:sp>
      <p:sp>
        <p:nvSpPr>
          <p:cNvPr id="9" name="Rectangle 8"/>
          <p:cNvSpPr/>
          <p:nvPr/>
        </p:nvSpPr>
        <p:spPr>
          <a:xfrm>
            <a:off x="8412480" y="2194560"/>
            <a:ext cx="3291840" cy="2377440"/>
          </a:xfrm>
          <a:prstGeom prst="rect">
            <a:avLst/>
          </a:prstGeom>
          <a:solidFill>
            <a:srgbClr val="121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412480" y="2194560"/>
            <a:ext cx="73152" cy="2377440"/>
          </a:xfrm>
          <a:prstGeom prst="rect">
            <a:avLst/>
          </a:prstGeom>
          <a:solidFill>
            <a:srgbClr val="FBC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0" y="2331720"/>
            <a:ext cx="3017520" cy="365760"/>
          </a:xfrm>
          <a:prstGeom prst="rect">
            <a:avLst/>
          </a:prstGeom>
          <a:noFill/>
        </p:spPr>
        <p:txBody>
          <a:bodyPr wrap="square" lIns="45720" tIns="18288" rIns="45720" bIns="18288" anchor="t">
            <a:spAutoFit/>
          </a:bodyPr>
          <a:lstStyle/>
          <a:p>
            <a:pPr algn="l"/>
            <a:r>
              <a:rPr sz="1100" b="1">
                <a:solidFill>
                  <a:srgbClr val="FBC04A"/>
                </a:solidFill>
                <a:latin typeface="Arial"/>
              </a:rPr>
              <a:t>DATASET</a:t>
            </a:r>
          </a:p>
        </p:txBody>
      </p:sp>
      <p:sp>
        <p:nvSpPr>
          <p:cNvPr id="12" name="TextBox 11"/>
          <p:cNvSpPr txBox="1"/>
          <p:nvPr/>
        </p:nvSpPr>
        <p:spPr>
          <a:xfrm>
            <a:off x="8595360" y="2697480"/>
            <a:ext cx="3017520" cy="1005840"/>
          </a:xfrm>
          <a:prstGeom prst="rect">
            <a:avLst/>
          </a:prstGeom>
          <a:noFill/>
        </p:spPr>
        <p:txBody>
          <a:bodyPr wrap="square" lIns="45720" tIns="18288" rIns="45720" bIns="18288" anchor="t">
            <a:spAutoFit/>
          </a:bodyPr>
          <a:lstStyle/>
          <a:p>
            <a:pPr algn="l"/>
            <a:r>
              <a:rPr sz="5400" b="1">
                <a:solidFill>
                  <a:srgbClr val="FFFFFF"/>
                </a:solidFill>
                <a:latin typeface="Arial"/>
              </a:rPr>
              <a:t>548K</a:t>
            </a:r>
          </a:p>
        </p:txBody>
      </p:sp>
      <p:sp>
        <p:nvSpPr>
          <p:cNvPr id="13" name="TextBox 12"/>
          <p:cNvSpPr txBox="1"/>
          <p:nvPr/>
        </p:nvSpPr>
        <p:spPr>
          <a:xfrm>
            <a:off x="8595360" y="3703320"/>
            <a:ext cx="3017520" cy="365760"/>
          </a:xfrm>
          <a:prstGeom prst="rect">
            <a:avLst/>
          </a:prstGeom>
          <a:noFill/>
        </p:spPr>
        <p:txBody>
          <a:bodyPr wrap="square" lIns="45720" tIns="18288" rIns="45720" bIns="18288" anchor="t">
            <a:spAutoFit/>
          </a:bodyPr>
          <a:lstStyle/>
          <a:p>
            <a:pPr algn="l"/>
            <a:r>
              <a:rPr sz="1400" b="0">
                <a:solidFill>
                  <a:srgbClr val="CADCFC"/>
                </a:solidFill>
                <a:latin typeface="Arial"/>
              </a:rPr>
              <a:t>vehicles sold</a:t>
            </a:r>
          </a:p>
        </p:txBody>
      </p:sp>
      <p:sp>
        <p:nvSpPr>
          <p:cNvPr id="14" name="TextBox 13"/>
          <p:cNvSpPr txBox="1"/>
          <p:nvPr/>
        </p:nvSpPr>
        <p:spPr>
          <a:xfrm>
            <a:off x="8595360" y="4023360"/>
            <a:ext cx="3017520" cy="365760"/>
          </a:xfrm>
          <a:prstGeom prst="rect">
            <a:avLst/>
          </a:prstGeom>
          <a:noFill/>
        </p:spPr>
        <p:txBody>
          <a:bodyPr wrap="square" lIns="45720" tIns="18288" rIns="45720" bIns="18288" anchor="t">
            <a:spAutoFit/>
          </a:bodyPr>
          <a:lstStyle/>
          <a:p>
            <a:pPr algn="l"/>
            <a:r>
              <a:rPr sz="1100" b="0">
                <a:solidFill>
                  <a:srgbClr val="CADCFC"/>
                </a:solidFill>
                <a:latin typeface="Arial"/>
              </a:rPr>
              <a:t>across 38 states &amp; 66 makes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73152"/>
            <a:ext cx="7315200" cy="365760"/>
          </a:xfrm>
          <a:prstGeom prst="rect">
            <a:avLst/>
          </a:prstGeom>
          <a:noFill/>
        </p:spPr>
        <p:txBody>
          <a:bodyPr wrap="square" lIns="45720" tIns="18288" rIns="45720" bIns="18288" anchor="t">
            <a:spAutoFit/>
          </a:bodyPr>
          <a:lstStyle/>
          <a:p>
            <a:pPr algn="l"/>
            <a:r>
              <a:rPr sz="1100" b="1">
                <a:solidFill>
                  <a:srgbClr val="CADCFC"/>
                </a:solidFill>
                <a:latin typeface="Arial"/>
              </a:rPr>
              <a:t>BRIGHT MOTORS  |  CAR SALES CASE STUDY</a:t>
            </a:r>
          </a:p>
        </p:txBody>
      </p:sp>
      <p:sp>
        <p:nvSpPr>
          <p:cNvPr id="5" name="TextBox 4"/>
          <p:cNvSpPr txBox="1"/>
          <p:nvPr/>
        </p:nvSpPr>
        <p:spPr>
          <a:xfrm>
            <a:off x="10332720" y="73152"/>
            <a:ext cx="1645920" cy="365760"/>
          </a:xfrm>
          <a:prstGeom prst="rect">
            <a:avLst/>
          </a:prstGeom>
          <a:noFill/>
        </p:spPr>
        <p:txBody>
          <a:bodyPr wrap="square" lIns="45720" tIns="18288" rIns="45720" bIns="18288" anchor="t">
            <a:spAutoFit/>
          </a:bodyPr>
          <a:lstStyle/>
          <a:p>
            <a:pPr algn="r"/>
            <a:r>
              <a:rPr sz="1100" b="1">
                <a:solidFill>
                  <a:srgbClr val="FBC04A"/>
                </a:solidFill>
                <a:latin typeface="Arial"/>
              </a:rPr>
              <a:t>2014–2015</a:t>
            </a:r>
          </a:p>
        </p:txBody>
      </p:sp>
      <p:sp>
        <p:nvSpPr>
          <p:cNvPr id="6" name="TextBox 5"/>
          <p:cNvSpPr txBox="1"/>
          <p:nvPr/>
        </p:nvSpPr>
        <p:spPr>
          <a:xfrm>
            <a:off x="457200" y="685800"/>
            <a:ext cx="11247120" cy="640080"/>
          </a:xfrm>
          <a:prstGeom prst="rect">
            <a:avLst/>
          </a:prstGeom>
          <a:noFill/>
        </p:spPr>
        <p:txBody>
          <a:bodyPr wrap="square" lIns="45720" tIns="18288" rIns="45720" bIns="18288" anchor="t">
            <a:spAutoFit/>
          </a:bodyPr>
          <a:lstStyle/>
          <a:p>
            <a:pPr algn="l"/>
            <a:r>
              <a:rPr sz="3000" b="1">
                <a:solidFill>
                  <a:srgbClr val="1E2761"/>
                </a:solidFill>
                <a:latin typeface="Arial"/>
              </a:rPr>
              <a:t>Agenda</a:t>
            </a:r>
          </a:p>
        </p:txBody>
      </p:sp>
      <p:sp>
        <p:nvSpPr>
          <p:cNvPr id="7" name="TextBox 6"/>
          <p:cNvSpPr txBox="1"/>
          <p:nvPr/>
        </p:nvSpPr>
        <p:spPr>
          <a:xfrm>
            <a:off x="457200" y="1234440"/>
            <a:ext cx="11247120" cy="365760"/>
          </a:xfrm>
          <a:prstGeom prst="rect">
            <a:avLst/>
          </a:prstGeom>
          <a:noFill/>
        </p:spPr>
        <p:txBody>
          <a:bodyPr wrap="square" lIns="45720" tIns="18288" rIns="45720" bIns="18288" anchor="t">
            <a:spAutoFit/>
          </a:bodyPr>
          <a:lstStyle/>
          <a:p>
            <a:pPr algn="l"/>
            <a:r>
              <a:rPr sz="1400" b="0">
                <a:solidFill>
                  <a:srgbClr val="555A6B"/>
                </a:solidFill>
                <a:latin typeface="Arial"/>
              </a:rPr>
              <a:t>What we'll cover today</a:t>
            </a:r>
          </a:p>
        </p:txBody>
      </p:sp>
      <p:sp>
        <p:nvSpPr>
          <p:cNvPr id="8" name="TextBox 7"/>
          <p:cNvSpPr txBox="1"/>
          <p:nvPr/>
        </p:nvSpPr>
        <p:spPr>
          <a:xfrm>
            <a:off x="457200" y="6537960"/>
            <a:ext cx="7315200" cy="274320"/>
          </a:xfrm>
          <a:prstGeom prst="rect">
            <a:avLst/>
          </a:prstGeom>
          <a:noFill/>
        </p:spPr>
        <p:txBody>
          <a:bodyPr wrap="square" lIns="45720" tIns="18288" rIns="45720" bIns="18288" anchor="t">
            <a:spAutoFit/>
          </a:bodyPr>
          <a:lstStyle/>
          <a:p>
            <a:pPr algn="l"/>
            <a:r>
              <a:rPr sz="900" b="0">
                <a:solidFill>
                  <a:srgbClr val="555A6B"/>
                </a:solidFill>
                <a:latin typeface="Arial"/>
              </a:rPr>
              <a:t>Source: Bright Motors car_sales_dataset (Databricks)</a:t>
            </a:r>
          </a:p>
        </p:txBody>
      </p:sp>
      <p:sp>
        <p:nvSpPr>
          <p:cNvPr id="9" name="Rectangle 8"/>
          <p:cNvSpPr/>
          <p:nvPr/>
        </p:nvSpPr>
        <p:spPr>
          <a:xfrm>
            <a:off x="548640" y="1828800"/>
            <a:ext cx="11064240" cy="713232"/>
          </a:xfrm>
          <a:prstGeom prst="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31520" y="1947672"/>
            <a:ext cx="475488" cy="475488"/>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1947672"/>
            <a:ext cx="475488" cy="475488"/>
          </a:xfrm>
          <a:prstGeom prst="rect">
            <a:avLst/>
          </a:prstGeom>
          <a:noFill/>
        </p:spPr>
        <p:txBody>
          <a:bodyPr wrap="square" lIns="45720" tIns="18288" rIns="45720" bIns="18288" anchor="ctr">
            <a:spAutoFit/>
          </a:bodyPr>
          <a:lstStyle/>
          <a:p>
            <a:pPr algn="ctr"/>
            <a:r>
              <a:rPr sz="1200" b="1">
                <a:solidFill>
                  <a:srgbClr val="FFFFFF"/>
                </a:solidFill>
                <a:latin typeface="Arial"/>
              </a:rPr>
              <a:t>01</a:t>
            </a:r>
          </a:p>
        </p:txBody>
      </p:sp>
      <p:sp>
        <p:nvSpPr>
          <p:cNvPr id="12" name="TextBox 11"/>
          <p:cNvSpPr txBox="1"/>
          <p:nvPr/>
        </p:nvSpPr>
        <p:spPr>
          <a:xfrm>
            <a:off x="1463040" y="1901952"/>
            <a:ext cx="3657600" cy="320040"/>
          </a:xfrm>
          <a:prstGeom prst="rect">
            <a:avLst/>
          </a:prstGeom>
          <a:noFill/>
        </p:spPr>
        <p:txBody>
          <a:bodyPr wrap="square" lIns="45720" tIns="18288" rIns="45720" bIns="18288" anchor="t">
            <a:spAutoFit/>
          </a:bodyPr>
          <a:lstStyle/>
          <a:p>
            <a:pPr algn="l"/>
            <a:r>
              <a:rPr sz="1500" b="1">
                <a:solidFill>
                  <a:srgbClr val="1E2761"/>
                </a:solidFill>
                <a:latin typeface="Arial"/>
              </a:rPr>
              <a:t>Business Context</a:t>
            </a:r>
          </a:p>
        </p:txBody>
      </p:sp>
      <p:sp>
        <p:nvSpPr>
          <p:cNvPr id="13" name="TextBox 12"/>
          <p:cNvSpPr txBox="1"/>
          <p:nvPr/>
        </p:nvSpPr>
        <p:spPr>
          <a:xfrm>
            <a:off x="1463040" y="2194560"/>
            <a:ext cx="9601200" cy="320040"/>
          </a:xfrm>
          <a:prstGeom prst="rect">
            <a:avLst/>
          </a:prstGeom>
          <a:noFill/>
        </p:spPr>
        <p:txBody>
          <a:bodyPr wrap="square" lIns="45720" tIns="18288" rIns="45720" bIns="18288" anchor="t">
            <a:spAutoFit/>
          </a:bodyPr>
          <a:lstStyle/>
          <a:p>
            <a:pPr algn="l"/>
            <a:r>
              <a:rPr sz="1100" b="0">
                <a:solidFill>
                  <a:srgbClr val="555A6B"/>
                </a:solidFill>
                <a:latin typeface="Arial"/>
              </a:rPr>
              <a:t>Why this analysis matters for Bright Motors</a:t>
            </a:r>
          </a:p>
        </p:txBody>
      </p:sp>
      <p:sp>
        <p:nvSpPr>
          <p:cNvPr id="14" name="Rectangle 13"/>
          <p:cNvSpPr/>
          <p:nvPr/>
        </p:nvSpPr>
        <p:spPr>
          <a:xfrm>
            <a:off x="548640" y="2587752"/>
            <a:ext cx="11064240" cy="713232"/>
          </a:xfrm>
          <a:prstGeom prst="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31520" y="2706624"/>
            <a:ext cx="475488" cy="475488"/>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2706624"/>
            <a:ext cx="475488" cy="475488"/>
          </a:xfrm>
          <a:prstGeom prst="rect">
            <a:avLst/>
          </a:prstGeom>
          <a:noFill/>
        </p:spPr>
        <p:txBody>
          <a:bodyPr wrap="square" lIns="45720" tIns="18288" rIns="45720" bIns="18288" anchor="ctr">
            <a:spAutoFit/>
          </a:bodyPr>
          <a:lstStyle/>
          <a:p>
            <a:pPr algn="ctr"/>
            <a:r>
              <a:rPr sz="1200" b="1">
                <a:solidFill>
                  <a:srgbClr val="FFFFFF"/>
                </a:solidFill>
                <a:latin typeface="Arial"/>
              </a:rPr>
              <a:t>02</a:t>
            </a:r>
          </a:p>
        </p:txBody>
      </p:sp>
      <p:sp>
        <p:nvSpPr>
          <p:cNvPr id="17" name="TextBox 16"/>
          <p:cNvSpPr txBox="1"/>
          <p:nvPr/>
        </p:nvSpPr>
        <p:spPr>
          <a:xfrm>
            <a:off x="1463040" y="2660904"/>
            <a:ext cx="3657600" cy="320040"/>
          </a:xfrm>
          <a:prstGeom prst="rect">
            <a:avLst/>
          </a:prstGeom>
          <a:noFill/>
        </p:spPr>
        <p:txBody>
          <a:bodyPr wrap="square" lIns="45720" tIns="18288" rIns="45720" bIns="18288" anchor="t">
            <a:spAutoFit/>
          </a:bodyPr>
          <a:lstStyle/>
          <a:p>
            <a:pPr algn="l"/>
            <a:r>
              <a:rPr sz="1500" b="1">
                <a:solidFill>
                  <a:srgbClr val="1E2761"/>
                </a:solidFill>
                <a:latin typeface="Arial"/>
              </a:rPr>
              <a:t>Data &amp; Methodology</a:t>
            </a:r>
          </a:p>
        </p:txBody>
      </p:sp>
      <p:sp>
        <p:nvSpPr>
          <p:cNvPr id="18" name="TextBox 17"/>
          <p:cNvSpPr txBox="1"/>
          <p:nvPr/>
        </p:nvSpPr>
        <p:spPr>
          <a:xfrm>
            <a:off x="1463040" y="2953512"/>
            <a:ext cx="9601200" cy="320040"/>
          </a:xfrm>
          <a:prstGeom prst="rect">
            <a:avLst/>
          </a:prstGeom>
          <a:noFill/>
        </p:spPr>
        <p:txBody>
          <a:bodyPr wrap="square" lIns="45720" tIns="18288" rIns="45720" bIns="18288" anchor="t">
            <a:spAutoFit/>
          </a:bodyPr>
          <a:lstStyle/>
          <a:p>
            <a:pPr algn="l"/>
            <a:r>
              <a:rPr sz="1100" b="0">
                <a:solidFill>
                  <a:srgbClr val="555A6B"/>
                </a:solidFill>
                <a:latin typeface="Arial"/>
              </a:rPr>
              <a:t>From raw Databricks export to clean, query-ready data</a:t>
            </a:r>
          </a:p>
        </p:txBody>
      </p:sp>
      <p:sp>
        <p:nvSpPr>
          <p:cNvPr id="19" name="Rectangle 18"/>
          <p:cNvSpPr/>
          <p:nvPr/>
        </p:nvSpPr>
        <p:spPr>
          <a:xfrm>
            <a:off x="548640" y="3346704"/>
            <a:ext cx="11064240" cy="713232"/>
          </a:xfrm>
          <a:prstGeom prst="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31520" y="3465576"/>
            <a:ext cx="475488" cy="475488"/>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3465576"/>
            <a:ext cx="475488" cy="475488"/>
          </a:xfrm>
          <a:prstGeom prst="rect">
            <a:avLst/>
          </a:prstGeom>
          <a:noFill/>
        </p:spPr>
        <p:txBody>
          <a:bodyPr wrap="square" lIns="45720" tIns="18288" rIns="45720" bIns="18288" anchor="ctr">
            <a:spAutoFit/>
          </a:bodyPr>
          <a:lstStyle/>
          <a:p>
            <a:pPr algn="ctr"/>
            <a:r>
              <a:rPr sz="1200" b="1">
                <a:solidFill>
                  <a:srgbClr val="FFFFFF"/>
                </a:solidFill>
                <a:latin typeface="Arial"/>
              </a:rPr>
              <a:t>03</a:t>
            </a:r>
          </a:p>
        </p:txBody>
      </p:sp>
      <p:sp>
        <p:nvSpPr>
          <p:cNvPr id="22" name="TextBox 21"/>
          <p:cNvSpPr txBox="1"/>
          <p:nvPr/>
        </p:nvSpPr>
        <p:spPr>
          <a:xfrm>
            <a:off x="1463040" y="3419856"/>
            <a:ext cx="3657600" cy="320040"/>
          </a:xfrm>
          <a:prstGeom prst="rect">
            <a:avLst/>
          </a:prstGeom>
          <a:noFill/>
        </p:spPr>
        <p:txBody>
          <a:bodyPr wrap="square" lIns="45720" tIns="18288" rIns="45720" bIns="18288" anchor="t">
            <a:spAutoFit/>
          </a:bodyPr>
          <a:lstStyle/>
          <a:p>
            <a:pPr algn="l"/>
            <a:r>
              <a:rPr sz="1500" b="1">
                <a:solidFill>
                  <a:srgbClr val="1E2761"/>
                </a:solidFill>
                <a:latin typeface="Arial"/>
              </a:rPr>
              <a:t>Headline KPIs</a:t>
            </a:r>
          </a:p>
        </p:txBody>
      </p:sp>
      <p:sp>
        <p:nvSpPr>
          <p:cNvPr id="23" name="TextBox 22"/>
          <p:cNvSpPr txBox="1"/>
          <p:nvPr/>
        </p:nvSpPr>
        <p:spPr>
          <a:xfrm>
            <a:off x="1463040" y="3712464"/>
            <a:ext cx="9601200" cy="320040"/>
          </a:xfrm>
          <a:prstGeom prst="rect">
            <a:avLst/>
          </a:prstGeom>
          <a:noFill/>
        </p:spPr>
        <p:txBody>
          <a:bodyPr wrap="square" lIns="45720" tIns="18288" rIns="45720" bIns="18288" anchor="t">
            <a:spAutoFit/>
          </a:bodyPr>
          <a:lstStyle/>
          <a:p>
            <a:pPr algn="l"/>
            <a:r>
              <a:rPr sz="1100" b="0">
                <a:solidFill>
                  <a:srgbClr val="555A6B"/>
                </a:solidFill>
                <a:latin typeface="Arial"/>
              </a:rPr>
              <a:t>Revenue, units, price and margin at a glance</a:t>
            </a:r>
          </a:p>
        </p:txBody>
      </p:sp>
      <p:sp>
        <p:nvSpPr>
          <p:cNvPr id="24" name="Rectangle 23"/>
          <p:cNvSpPr/>
          <p:nvPr/>
        </p:nvSpPr>
        <p:spPr>
          <a:xfrm>
            <a:off x="548640" y="4105656"/>
            <a:ext cx="11064240" cy="713232"/>
          </a:xfrm>
          <a:prstGeom prst="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731520" y="4224528"/>
            <a:ext cx="475488" cy="475488"/>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31520" y="4224528"/>
            <a:ext cx="475488" cy="475488"/>
          </a:xfrm>
          <a:prstGeom prst="rect">
            <a:avLst/>
          </a:prstGeom>
          <a:noFill/>
        </p:spPr>
        <p:txBody>
          <a:bodyPr wrap="square" lIns="45720" tIns="18288" rIns="45720" bIns="18288" anchor="ctr">
            <a:spAutoFit/>
          </a:bodyPr>
          <a:lstStyle/>
          <a:p>
            <a:pPr algn="ctr"/>
            <a:r>
              <a:rPr sz="1200" b="1">
                <a:solidFill>
                  <a:srgbClr val="FFFFFF"/>
                </a:solidFill>
                <a:latin typeface="Arial"/>
              </a:rPr>
              <a:t>04</a:t>
            </a:r>
          </a:p>
        </p:txBody>
      </p:sp>
      <p:sp>
        <p:nvSpPr>
          <p:cNvPr id="27" name="TextBox 26"/>
          <p:cNvSpPr txBox="1"/>
          <p:nvPr/>
        </p:nvSpPr>
        <p:spPr>
          <a:xfrm>
            <a:off x="1463040" y="4178808"/>
            <a:ext cx="3657600" cy="320040"/>
          </a:xfrm>
          <a:prstGeom prst="rect">
            <a:avLst/>
          </a:prstGeom>
          <a:noFill/>
        </p:spPr>
        <p:txBody>
          <a:bodyPr wrap="square" lIns="45720" tIns="18288" rIns="45720" bIns="18288" anchor="t">
            <a:spAutoFit/>
          </a:bodyPr>
          <a:lstStyle/>
          <a:p>
            <a:pPr algn="l"/>
            <a:r>
              <a:rPr sz="1500" b="1">
                <a:solidFill>
                  <a:srgbClr val="1E2761"/>
                </a:solidFill>
                <a:latin typeface="Arial"/>
              </a:rPr>
              <a:t>Brand &amp; Geography</a:t>
            </a:r>
          </a:p>
        </p:txBody>
      </p:sp>
      <p:sp>
        <p:nvSpPr>
          <p:cNvPr id="28" name="TextBox 27"/>
          <p:cNvSpPr txBox="1"/>
          <p:nvPr/>
        </p:nvSpPr>
        <p:spPr>
          <a:xfrm>
            <a:off x="1463040" y="4471416"/>
            <a:ext cx="9601200" cy="320040"/>
          </a:xfrm>
          <a:prstGeom prst="rect">
            <a:avLst/>
          </a:prstGeom>
          <a:noFill/>
        </p:spPr>
        <p:txBody>
          <a:bodyPr wrap="square" lIns="45720" tIns="18288" rIns="45720" bIns="18288" anchor="t">
            <a:spAutoFit/>
          </a:bodyPr>
          <a:lstStyle/>
          <a:p>
            <a:pPr algn="l"/>
            <a:r>
              <a:rPr sz="1100" b="0">
                <a:solidFill>
                  <a:srgbClr val="555A6B"/>
                </a:solidFill>
                <a:latin typeface="Arial"/>
              </a:rPr>
              <a:t>Where revenue concentrates by make and state</a:t>
            </a:r>
          </a:p>
        </p:txBody>
      </p:sp>
      <p:sp>
        <p:nvSpPr>
          <p:cNvPr id="29" name="Rectangle 28"/>
          <p:cNvSpPr/>
          <p:nvPr/>
        </p:nvSpPr>
        <p:spPr>
          <a:xfrm>
            <a:off x="548640" y="4864608"/>
            <a:ext cx="11064240" cy="713232"/>
          </a:xfrm>
          <a:prstGeom prst="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731520" y="4983480"/>
            <a:ext cx="475488" cy="475488"/>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31520" y="4983480"/>
            <a:ext cx="475488" cy="475488"/>
          </a:xfrm>
          <a:prstGeom prst="rect">
            <a:avLst/>
          </a:prstGeom>
          <a:noFill/>
        </p:spPr>
        <p:txBody>
          <a:bodyPr wrap="square" lIns="45720" tIns="18288" rIns="45720" bIns="18288" anchor="ctr">
            <a:spAutoFit/>
          </a:bodyPr>
          <a:lstStyle/>
          <a:p>
            <a:pPr algn="ctr"/>
            <a:r>
              <a:rPr sz="1200" b="1">
                <a:solidFill>
                  <a:srgbClr val="FFFFFF"/>
                </a:solidFill>
                <a:latin typeface="Arial"/>
              </a:rPr>
              <a:t>05</a:t>
            </a:r>
          </a:p>
        </p:txBody>
      </p:sp>
      <p:sp>
        <p:nvSpPr>
          <p:cNvPr id="32" name="TextBox 31"/>
          <p:cNvSpPr txBox="1"/>
          <p:nvPr/>
        </p:nvSpPr>
        <p:spPr>
          <a:xfrm>
            <a:off x="1463040" y="4937760"/>
            <a:ext cx="3657600" cy="320040"/>
          </a:xfrm>
          <a:prstGeom prst="rect">
            <a:avLst/>
          </a:prstGeom>
          <a:noFill/>
        </p:spPr>
        <p:txBody>
          <a:bodyPr wrap="square" lIns="45720" tIns="18288" rIns="45720" bIns="18288" anchor="t">
            <a:spAutoFit/>
          </a:bodyPr>
          <a:lstStyle/>
          <a:p>
            <a:pPr algn="l"/>
            <a:r>
              <a:rPr sz="1500" b="1">
                <a:solidFill>
                  <a:srgbClr val="1E2761"/>
                </a:solidFill>
                <a:latin typeface="Arial"/>
              </a:rPr>
              <a:t>Time, Mix &amp; Margin</a:t>
            </a:r>
          </a:p>
        </p:txBody>
      </p:sp>
      <p:sp>
        <p:nvSpPr>
          <p:cNvPr id="33" name="TextBox 32"/>
          <p:cNvSpPr txBox="1"/>
          <p:nvPr/>
        </p:nvSpPr>
        <p:spPr>
          <a:xfrm>
            <a:off x="1463040" y="5230368"/>
            <a:ext cx="9601200" cy="320040"/>
          </a:xfrm>
          <a:prstGeom prst="rect">
            <a:avLst/>
          </a:prstGeom>
          <a:noFill/>
        </p:spPr>
        <p:txBody>
          <a:bodyPr wrap="square" lIns="45720" tIns="18288" rIns="45720" bIns="18288" anchor="t">
            <a:spAutoFit/>
          </a:bodyPr>
          <a:lstStyle/>
          <a:p>
            <a:pPr algn="l"/>
            <a:r>
              <a:rPr sz="1100" b="0">
                <a:solidFill>
                  <a:srgbClr val="555A6B"/>
                </a:solidFill>
                <a:latin typeface="Arial"/>
              </a:rPr>
              <a:t>Seasonality, body-type mix and profitability tiers</a:t>
            </a:r>
          </a:p>
        </p:txBody>
      </p:sp>
      <p:sp>
        <p:nvSpPr>
          <p:cNvPr id="34" name="Rectangle 33"/>
          <p:cNvSpPr/>
          <p:nvPr/>
        </p:nvSpPr>
        <p:spPr>
          <a:xfrm>
            <a:off x="548640" y="5623560"/>
            <a:ext cx="11064240" cy="713232"/>
          </a:xfrm>
          <a:prstGeom prst="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731520" y="5742432"/>
            <a:ext cx="475488" cy="475488"/>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31520" y="5742432"/>
            <a:ext cx="475488" cy="475488"/>
          </a:xfrm>
          <a:prstGeom prst="rect">
            <a:avLst/>
          </a:prstGeom>
          <a:noFill/>
        </p:spPr>
        <p:txBody>
          <a:bodyPr wrap="square" lIns="45720" tIns="18288" rIns="45720" bIns="18288" anchor="ctr">
            <a:spAutoFit/>
          </a:bodyPr>
          <a:lstStyle/>
          <a:p>
            <a:pPr algn="ctr"/>
            <a:r>
              <a:rPr sz="1200" b="1">
                <a:solidFill>
                  <a:srgbClr val="FFFFFF"/>
                </a:solidFill>
                <a:latin typeface="Arial"/>
              </a:rPr>
              <a:t>06</a:t>
            </a:r>
          </a:p>
        </p:txBody>
      </p:sp>
      <p:sp>
        <p:nvSpPr>
          <p:cNvPr id="37" name="TextBox 36"/>
          <p:cNvSpPr txBox="1"/>
          <p:nvPr/>
        </p:nvSpPr>
        <p:spPr>
          <a:xfrm>
            <a:off x="1463040" y="5696712"/>
            <a:ext cx="3657600" cy="320040"/>
          </a:xfrm>
          <a:prstGeom prst="rect">
            <a:avLst/>
          </a:prstGeom>
          <a:noFill/>
        </p:spPr>
        <p:txBody>
          <a:bodyPr wrap="square" lIns="45720" tIns="18288" rIns="45720" bIns="18288" anchor="t">
            <a:spAutoFit/>
          </a:bodyPr>
          <a:lstStyle/>
          <a:p>
            <a:pPr algn="l"/>
            <a:r>
              <a:rPr sz="1500" b="1">
                <a:solidFill>
                  <a:srgbClr val="1E2761"/>
                </a:solidFill>
                <a:latin typeface="Arial"/>
              </a:rPr>
              <a:t>Recommendations</a:t>
            </a:r>
          </a:p>
        </p:txBody>
      </p:sp>
      <p:sp>
        <p:nvSpPr>
          <p:cNvPr id="38" name="TextBox 37"/>
          <p:cNvSpPr txBox="1"/>
          <p:nvPr/>
        </p:nvSpPr>
        <p:spPr>
          <a:xfrm>
            <a:off x="1463040" y="5989320"/>
            <a:ext cx="9601200" cy="320040"/>
          </a:xfrm>
          <a:prstGeom prst="rect">
            <a:avLst/>
          </a:prstGeom>
          <a:noFill/>
        </p:spPr>
        <p:txBody>
          <a:bodyPr wrap="square" lIns="45720" tIns="18288" rIns="45720" bIns="18288" anchor="t">
            <a:spAutoFit/>
          </a:bodyPr>
          <a:lstStyle/>
          <a:p>
            <a:pPr algn="l"/>
            <a:r>
              <a:rPr sz="1100" b="0">
                <a:solidFill>
                  <a:srgbClr val="555A6B"/>
                </a:solidFill>
                <a:latin typeface="Arial"/>
              </a:rPr>
              <a:t>Actions for the next planning cycle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73152"/>
            <a:ext cx="7315200" cy="365760"/>
          </a:xfrm>
          <a:prstGeom prst="rect">
            <a:avLst/>
          </a:prstGeom>
          <a:noFill/>
        </p:spPr>
        <p:txBody>
          <a:bodyPr wrap="square" lIns="45720" tIns="18288" rIns="45720" bIns="18288" anchor="t">
            <a:spAutoFit/>
          </a:bodyPr>
          <a:lstStyle/>
          <a:p>
            <a:pPr algn="l"/>
            <a:r>
              <a:rPr sz="1100" b="1">
                <a:solidFill>
                  <a:srgbClr val="CADCFC"/>
                </a:solidFill>
                <a:latin typeface="Arial"/>
              </a:rPr>
              <a:t>BRIGHT MOTORS  |  CAR SALES CASE STUDY</a:t>
            </a:r>
          </a:p>
        </p:txBody>
      </p:sp>
      <p:sp>
        <p:nvSpPr>
          <p:cNvPr id="5" name="TextBox 4"/>
          <p:cNvSpPr txBox="1"/>
          <p:nvPr/>
        </p:nvSpPr>
        <p:spPr>
          <a:xfrm>
            <a:off x="10332720" y="73152"/>
            <a:ext cx="1645920" cy="365760"/>
          </a:xfrm>
          <a:prstGeom prst="rect">
            <a:avLst/>
          </a:prstGeom>
          <a:noFill/>
        </p:spPr>
        <p:txBody>
          <a:bodyPr wrap="square" lIns="45720" tIns="18288" rIns="45720" bIns="18288" anchor="t">
            <a:spAutoFit/>
          </a:bodyPr>
          <a:lstStyle/>
          <a:p>
            <a:pPr algn="r"/>
            <a:r>
              <a:rPr sz="1100" b="1">
                <a:solidFill>
                  <a:srgbClr val="FBC04A"/>
                </a:solidFill>
                <a:latin typeface="Arial"/>
              </a:rPr>
              <a:t>2014–2015</a:t>
            </a:r>
          </a:p>
        </p:txBody>
      </p:sp>
      <p:sp>
        <p:nvSpPr>
          <p:cNvPr id="6" name="TextBox 5"/>
          <p:cNvSpPr txBox="1"/>
          <p:nvPr/>
        </p:nvSpPr>
        <p:spPr>
          <a:xfrm>
            <a:off x="457200" y="685800"/>
            <a:ext cx="11247120" cy="640080"/>
          </a:xfrm>
          <a:prstGeom prst="rect">
            <a:avLst/>
          </a:prstGeom>
          <a:noFill/>
        </p:spPr>
        <p:txBody>
          <a:bodyPr wrap="square" lIns="45720" tIns="18288" rIns="45720" bIns="18288" anchor="t">
            <a:spAutoFit/>
          </a:bodyPr>
          <a:lstStyle/>
          <a:p>
            <a:pPr algn="l"/>
            <a:r>
              <a:rPr sz="3000" b="1">
                <a:solidFill>
                  <a:srgbClr val="1E2761"/>
                </a:solidFill>
                <a:latin typeface="Arial"/>
              </a:rPr>
              <a:t>Why this matters</a:t>
            </a:r>
          </a:p>
        </p:txBody>
      </p:sp>
      <p:sp>
        <p:nvSpPr>
          <p:cNvPr id="7" name="TextBox 6"/>
          <p:cNvSpPr txBox="1"/>
          <p:nvPr/>
        </p:nvSpPr>
        <p:spPr>
          <a:xfrm>
            <a:off x="457200" y="1234440"/>
            <a:ext cx="11247120" cy="365760"/>
          </a:xfrm>
          <a:prstGeom prst="rect">
            <a:avLst/>
          </a:prstGeom>
          <a:noFill/>
        </p:spPr>
        <p:txBody>
          <a:bodyPr wrap="square" lIns="45720" tIns="18288" rIns="45720" bIns="18288" anchor="t">
            <a:spAutoFit/>
          </a:bodyPr>
          <a:lstStyle/>
          <a:p>
            <a:pPr algn="l"/>
            <a:r>
              <a:rPr sz="1400" b="0">
                <a:solidFill>
                  <a:srgbClr val="555A6B"/>
                </a:solidFill>
                <a:latin typeface="Arial"/>
              </a:rPr>
              <a:t>Turning 548K transactions into a clear sales story</a:t>
            </a:r>
          </a:p>
        </p:txBody>
      </p:sp>
      <p:sp>
        <p:nvSpPr>
          <p:cNvPr id="8" name="TextBox 7"/>
          <p:cNvSpPr txBox="1"/>
          <p:nvPr/>
        </p:nvSpPr>
        <p:spPr>
          <a:xfrm>
            <a:off x="457200" y="6537960"/>
            <a:ext cx="7315200" cy="274320"/>
          </a:xfrm>
          <a:prstGeom prst="rect">
            <a:avLst/>
          </a:prstGeom>
          <a:noFill/>
        </p:spPr>
        <p:txBody>
          <a:bodyPr wrap="square" lIns="45720" tIns="18288" rIns="45720" bIns="18288" anchor="t">
            <a:spAutoFit/>
          </a:bodyPr>
          <a:lstStyle/>
          <a:p>
            <a:pPr algn="l"/>
            <a:r>
              <a:rPr sz="900" b="0">
                <a:solidFill>
                  <a:srgbClr val="555A6B"/>
                </a:solidFill>
                <a:latin typeface="Arial"/>
              </a:rPr>
              <a:t>Source: Bright Motors car_sales_dataset (Databricks)</a:t>
            </a:r>
          </a:p>
        </p:txBody>
      </p:sp>
      <p:sp>
        <p:nvSpPr>
          <p:cNvPr id="9" name="Rectangle 8"/>
          <p:cNvSpPr/>
          <p:nvPr/>
        </p:nvSpPr>
        <p:spPr>
          <a:xfrm>
            <a:off x="548640" y="1828800"/>
            <a:ext cx="5760720" cy="4297680"/>
          </a:xfrm>
          <a:prstGeom prst="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1828800"/>
            <a:ext cx="73152" cy="4297680"/>
          </a:xfrm>
          <a:prstGeom prst="rect">
            <a:avLst/>
          </a:prstGeom>
          <a:solidFill>
            <a:srgbClr val="FBC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1965960"/>
            <a:ext cx="5486400" cy="365760"/>
          </a:xfrm>
          <a:prstGeom prst="rect">
            <a:avLst/>
          </a:prstGeom>
          <a:noFill/>
        </p:spPr>
        <p:txBody>
          <a:bodyPr wrap="square" lIns="45720" tIns="18288" rIns="45720" bIns="18288" anchor="t">
            <a:spAutoFit/>
          </a:bodyPr>
          <a:lstStyle/>
          <a:p>
            <a:pPr algn="l"/>
            <a:r>
              <a:rPr sz="1100" b="1">
                <a:solidFill>
                  <a:srgbClr val="FBC04A"/>
                </a:solidFill>
                <a:latin typeface="Arial"/>
              </a:rPr>
              <a:t>THE QUESTION</a:t>
            </a:r>
          </a:p>
        </p:txBody>
      </p:sp>
      <p:sp>
        <p:nvSpPr>
          <p:cNvPr id="12" name="TextBox 11"/>
          <p:cNvSpPr txBox="1"/>
          <p:nvPr/>
        </p:nvSpPr>
        <p:spPr>
          <a:xfrm>
            <a:off x="777240" y="2286000"/>
            <a:ext cx="5486400" cy="1463040"/>
          </a:xfrm>
          <a:prstGeom prst="rect">
            <a:avLst/>
          </a:prstGeom>
          <a:noFill/>
        </p:spPr>
        <p:txBody>
          <a:bodyPr wrap="square" lIns="45720" tIns="18288" rIns="45720" bIns="18288" anchor="t">
            <a:spAutoFit/>
          </a:bodyPr>
          <a:lstStyle/>
          <a:p>
            <a:pPr algn="l"/>
            <a:r>
              <a:rPr sz="2000" b="1">
                <a:solidFill>
                  <a:srgbClr val="1E2761"/>
                </a:solidFill>
                <a:latin typeface="Arial"/>
              </a:rPr>
              <a:t>Where is Bright Motors making money — and where are we leaving it on the table?</a:t>
            </a:r>
          </a:p>
        </p:txBody>
      </p:sp>
      <p:sp>
        <p:nvSpPr>
          <p:cNvPr id="13" name="TextBox 12"/>
          <p:cNvSpPr txBox="1"/>
          <p:nvPr/>
        </p:nvSpPr>
        <p:spPr>
          <a:xfrm>
            <a:off x="777240" y="3840480"/>
            <a:ext cx="5486400" cy="2194560"/>
          </a:xfrm>
          <a:prstGeom prst="rect">
            <a:avLst/>
          </a:prstGeom>
          <a:noFill/>
        </p:spPr>
        <p:txBody>
          <a:bodyPr wrap="square" lIns="45720" tIns="18288" rIns="45720" bIns="18288" anchor="t">
            <a:spAutoFit/>
          </a:bodyPr>
          <a:lstStyle/>
          <a:p>
            <a:pPr algn="l"/>
            <a:r>
              <a:rPr sz="1300" b="0">
                <a:solidFill>
                  <a:srgbClr val="555A6B"/>
                </a:solidFill>
                <a:latin typeface="Arial"/>
              </a:rPr>
              <a:t>We analysed every sale from 2014–2015 to identify the brands, regions, vehicle types and price points that drive revenue and margin, so leadership can prioritise inventory and marketing spend for the next cycle.</a:t>
            </a:r>
          </a:p>
        </p:txBody>
      </p:sp>
      <p:sp>
        <p:nvSpPr>
          <p:cNvPr id="14" name="Rectangle 13"/>
          <p:cNvSpPr/>
          <p:nvPr/>
        </p:nvSpPr>
        <p:spPr>
          <a:xfrm>
            <a:off x="6675120" y="1828800"/>
            <a:ext cx="4937760" cy="12801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0" y="1965960"/>
            <a:ext cx="4572000" cy="365760"/>
          </a:xfrm>
          <a:prstGeom prst="rect">
            <a:avLst/>
          </a:prstGeom>
          <a:noFill/>
        </p:spPr>
        <p:txBody>
          <a:bodyPr wrap="square" lIns="45720" tIns="18288" rIns="45720" bIns="18288" anchor="t">
            <a:spAutoFit/>
          </a:bodyPr>
          <a:lstStyle/>
          <a:p>
            <a:pPr algn="l"/>
            <a:r>
              <a:rPr sz="1100" b="1">
                <a:solidFill>
                  <a:srgbClr val="FBC04A"/>
                </a:solidFill>
                <a:latin typeface="Arial"/>
              </a:rPr>
              <a:t>REVENUE ANALYSED</a:t>
            </a:r>
          </a:p>
        </p:txBody>
      </p:sp>
      <p:sp>
        <p:nvSpPr>
          <p:cNvPr id="16" name="TextBox 15"/>
          <p:cNvSpPr txBox="1"/>
          <p:nvPr/>
        </p:nvSpPr>
        <p:spPr>
          <a:xfrm>
            <a:off x="6858000" y="2286000"/>
            <a:ext cx="4572000" cy="777240"/>
          </a:xfrm>
          <a:prstGeom prst="rect">
            <a:avLst/>
          </a:prstGeom>
          <a:noFill/>
        </p:spPr>
        <p:txBody>
          <a:bodyPr wrap="square" lIns="45720" tIns="18288" rIns="45720" bIns="18288" anchor="t">
            <a:spAutoFit/>
          </a:bodyPr>
          <a:lstStyle/>
          <a:p>
            <a:pPr algn="l"/>
            <a:r>
              <a:rPr sz="3600" b="1">
                <a:solidFill>
                  <a:srgbClr val="FFFFFF"/>
                </a:solidFill>
                <a:latin typeface="Arial"/>
              </a:rPr>
              <a:t>$7.5B</a:t>
            </a:r>
          </a:p>
        </p:txBody>
      </p:sp>
      <p:sp>
        <p:nvSpPr>
          <p:cNvPr id="17" name="Rectangle 16"/>
          <p:cNvSpPr/>
          <p:nvPr/>
        </p:nvSpPr>
        <p:spPr>
          <a:xfrm>
            <a:off x="6675120" y="3291840"/>
            <a:ext cx="4937760" cy="12801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58000" y="3429000"/>
            <a:ext cx="4572000" cy="365760"/>
          </a:xfrm>
          <a:prstGeom prst="rect">
            <a:avLst/>
          </a:prstGeom>
          <a:noFill/>
        </p:spPr>
        <p:txBody>
          <a:bodyPr wrap="square" lIns="45720" tIns="18288" rIns="45720" bIns="18288" anchor="t">
            <a:spAutoFit/>
          </a:bodyPr>
          <a:lstStyle/>
          <a:p>
            <a:pPr algn="l"/>
            <a:r>
              <a:rPr sz="1100" b="1">
                <a:solidFill>
                  <a:srgbClr val="FBC04A"/>
                </a:solidFill>
                <a:latin typeface="Arial"/>
              </a:rPr>
              <a:t>UNITS SOLD</a:t>
            </a:r>
          </a:p>
        </p:txBody>
      </p:sp>
      <p:sp>
        <p:nvSpPr>
          <p:cNvPr id="19" name="TextBox 18"/>
          <p:cNvSpPr txBox="1"/>
          <p:nvPr/>
        </p:nvSpPr>
        <p:spPr>
          <a:xfrm>
            <a:off x="6858000" y="3749040"/>
            <a:ext cx="4572000" cy="777240"/>
          </a:xfrm>
          <a:prstGeom prst="rect">
            <a:avLst/>
          </a:prstGeom>
          <a:noFill/>
        </p:spPr>
        <p:txBody>
          <a:bodyPr wrap="square" lIns="45720" tIns="18288" rIns="45720" bIns="18288" anchor="t">
            <a:spAutoFit/>
          </a:bodyPr>
          <a:lstStyle/>
          <a:p>
            <a:pPr algn="l"/>
            <a:r>
              <a:rPr sz="3600" b="1">
                <a:solidFill>
                  <a:srgbClr val="FFFFFF"/>
                </a:solidFill>
                <a:latin typeface="Arial"/>
              </a:rPr>
              <a:t>548K</a:t>
            </a:r>
          </a:p>
        </p:txBody>
      </p:sp>
      <p:sp>
        <p:nvSpPr>
          <p:cNvPr id="20" name="Rectangle 19"/>
          <p:cNvSpPr/>
          <p:nvPr/>
        </p:nvSpPr>
        <p:spPr>
          <a:xfrm>
            <a:off x="6675120" y="4754880"/>
            <a:ext cx="4937760" cy="12801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58000" y="4892040"/>
            <a:ext cx="4572000" cy="365760"/>
          </a:xfrm>
          <a:prstGeom prst="rect">
            <a:avLst/>
          </a:prstGeom>
          <a:noFill/>
        </p:spPr>
        <p:txBody>
          <a:bodyPr wrap="square" lIns="45720" tIns="18288" rIns="45720" bIns="18288" anchor="t">
            <a:spAutoFit/>
          </a:bodyPr>
          <a:lstStyle/>
          <a:p>
            <a:pPr algn="l"/>
            <a:r>
              <a:rPr sz="1100" b="1">
                <a:solidFill>
                  <a:srgbClr val="FBC04A"/>
                </a:solidFill>
                <a:latin typeface="Arial"/>
              </a:rPr>
              <a:t>MARKETS COVERED</a:t>
            </a:r>
          </a:p>
        </p:txBody>
      </p:sp>
      <p:sp>
        <p:nvSpPr>
          <p:cNvPr id="22" name="TextBox 21"/>
          <p:cNvSpPr txBox="1"/>
          <p:nvPr/>
        </p:nvSpPr>
        <p:spPr>
          <a:xfrm>
            <a:off x="6858000" y="5212080"/>
            <a:ext cx="4572000" cy="777240"/>
          </a:xfrm>
          <a:prstGeom prst="rect">
            <a:avLst/>
          </a:prstGeom>
          <a:noFill/>
        </p:spPr>
        <p:txBody>
          <a:bodyPr wrap="square" lIns="45720" tIns="18288" rIns="45720" bIns="18288" anchor="t">
            <a:spAutoFit/>
          </a:bodyPr>
          <a:lstStyle/>
          <a:p>
            <a:pPr algn="l"/>
            <a:r>
              <a:rPr sz="3600" b="1">
                <a:solidFill>
                  <a:srgbClr val="FFFFFF"/>
                </a:solidFill>
                <a:latin typeface="Arial"/>
              </a:rPr>
              <a:t>38 states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73152"/>
            <a:ext cx="7315200" cy="365760"/>
          </a:xfrm>
          <a:prstGeom prst="rect">
            <a:avLst/>
          </a:prstGeom>
          <a:noFill/>
        </p:spPr>
        <p:txBody>
          <a:bodyPr wrap="square" lIns="45720" tIns="18288" rIns="45720" bIns="18288" anchor="t">
            <a:spAutoFit/>
          </a:bodyPr>
          <a:lstStyle/>
          <a:p>
            <a:pPr algn="l"/>
            <a:r>
              <a:rPr sz="1100" b="1">
                <a:solidFill>
                  <a:srgbClr val="CADCFC"/>
                </a:solidFill>
                <a:latin typeface="Arial"/>
              </a:rPr>
              <a:t>BRIGHT MOTORS  |  CAR SALES CASE STUDY</a:t>
            </a:r>
          </a:p>
        </p:txBody>
      </p:sp>
      <p:sp>
        <p:nvSpPr>
          <p:cNvPr id="5" name="TextBox 4"/>
          <p:cNvSpPr txBox="1"/>
          <p:nvPr/>
        </p:nvSpPr>
        <p:spPr>
          <a:xfrm>
            <a:off x="10332720" y="73152"/>
            <a:ext cx="1645920" cy="365760"/>
          </a:xfrm>
          <a:prstGeom prst="rect">
            <a:avLst/>
          </a:prstGeom>
          <a:noFill/>
        </p:spPr>
        <p:txBody>
          <a:bodyPr wrap="square" lIns="45720" tIns="18288" rIns="45720" bIns="18288" anchor="t">
            <a:spAutoFit/>
          </a:bodyPr>
          <a:lstStyle/>
          <a:p>
            <a:pPr algn="r"/>
            <a:r>
              <a:rPr sz="1100" b="1">
                <a:solidFill>
                  <a:srgbClr val="FBC04A"/>
                </a:solidFill>
                <a:latin typeface="Arial"/>
              </a:rPr>
              <a:t>2014–2015</a:t>
            </a:r>
          </a:p>
        </p:txBody>
      </p:sp>
      <p:sp>
        <p:nvSpPr>
          <p:cNvPr id="6" name="TextBox 5"/>
          <p:cNvSpPr txBox="1"/>
          <p:nvPr/>
        </p:nvSpPr>
        <p:spPr>
          <a:xfrm>
            <a:off x="457200" y="685800"/>
            <a:ext cx="11247120" cy="640080"/>
          </a:xfrm>
          <a:prstGeom prst="rect">
            <a:avLst/>
          </a:prstGeom>
          <a:noFill/>
        </p:spPr>
        <p:txBody>
          <a:bodyPr wrap="square" lIns="45720" tIns="18288" rIns="45720" bIns="18288" anchor="t">
            <a:spAutoFit/>
          </a:bodyPr>
          <a:lstStyle/>
          <a:p>
            <a:pPr algn="l"/>
            <a:r>
              <a:rPr sz="3000" b="1">
                <a:solidFill>
                  <a:srgbClr val="1E2761"/>
                </a:solidFill>
                <a:latin typeface="Arial"/>
              </a:rPr>
              <a:t>Data &amp; methodology</a:t>
            </a:r>
          </a:p>
        </p:txBody>
      </p:sp>
      <p:sp>
        <p:nvSpPr>
          <p:cNvPr id="7" name="TextBox 6"/>
          <p:cNvSpPr txBox="1"/>
          <p:nvPr/>
        </p:nvSpPr>
        <p:spPr>
          <a:xfrm>
            <a:off x="457200" y="1234440"/>
            <a:ext cx="11247120" cy="365760"/>
          </a:xfrm>
          <a:prstGeom prst="rect">
            <a:avLst/>
          </a:prstGeom>
          <a:noFill/>
        </p:spPr>
        <p:txBody>
          <a:bodyPr wrap="square" lIns="45720" tIns="18288" rIns="45720" bIns="18288" anchor="t">
            <a:spAutoFit/>
          </a:bodyPr>
          <a:lstStyle/>
          <a:p>
            <a:pPr algn="l"/>
            <a:r>
              <a:rPr sz="1400" b="0">
                <a:solidFill>
                  <a:srgbClr val="555A6B"/>
                </a:solidFill>
                <a:latin typeface="Arial"/>
              </a:rPr>
              <a:t>From raw export to query-ready insight</a:t>
            </a:r>
          </a:p>
        </p:txBody>
      </p:sp>
      <p:sp>
        <p:nvSpPr>
          <p:cNvPr id="8" name="TextBox 7"/>
          <p:cNvSpPr txBox="1"/>
          <p:nvPr/>
        </p:nvSpPr>
        <p:spPr>
          <a:xfrm>
            <a:off x="457200" y="6537960"/>
            <a:ext cx="7315200" cy="274320"/>
          </a:xfrm>
          <a:prstGeom prst="rect">
            <a:avLst/>
          </a:prstGeom>
          <a:noFill/>
        </p:spPr>
        <p:txBody>
          <a:bodyPr wrap="square" lIns="45720" tIns="18288" rIns="45720" bIns="18288" anchor="t">
            <a:spAutoFit/>
          </a:bodyPr>
          <a:lstStyle/>
          <a:p>
            <a:pPr algn="l"/>
            <a:r>
              <a:rPr sz="900" b="0">
                <a:solidFill>
                  <a:srgbClr val="555A6B"/>
                </a:solidFill>
                <a:latin typeface="Arial"/>
              </a:rPr>
              <a:t>Source: Bright Motors car_sales_dataset (Databricks)</a:t>
            </a:r>
          </a:p>
        </p:txBody>
      </p:sp>
      <p:sp>
        <p:nvSpPr>
          <p:cNvPr id="9" name="Rectangle 8"/>
          <p:cNvSpPr/>
          <p:nvPr/>
        </p:nvSpPr>
        <p:spPr>
          <a:xfrm>
            <a:off x="502920" y="2011680"/>
            <a:ext cx="2240280" cy="3291840"/>
          </a:xfrm>
          <a:prstGeom prst="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2920" y="2011680"/>
            <a:ext cx="2240280"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2011680"/>
            <a:ext cx="2240280" cy="502920"/>
          </a:xfrm>
          <a:prstGeom prst="rect">
            <a:avLst/>
          </a:prstGeom>
          <a:noFill/>
        </p:spPr>
        <p:txBody>
          <a:bodyPr wrap="square" lIns="45720" tIns="18288" rIns="45720" bIns="18288" anchor="ctr">
            <a:spAutoFit/>
          </a:bodyPr>
          <a:lstStyle/>
          <a:p>
            <a:pPr algn="ctr"/>
            <a:r>
              <a:rPr sz="1000" b="1">
                <a:solidFill>
                  <a:srgbClr val="FBC04A"/>
                </a:solidFill>
                <a:latin typeface="Arial"/>
              </a:rPr>
              <a:t>STEP 1</a:t>
            </a:r>
          </a:p>
        </p:txBody>
      </p:sp>
      <p:sp>
        <p:nvSpPr>
          <p:cNvPr id="12" name="TextBox 11"/>
          <p:cNvSpPr txBox="1"/>
          <p:nvPr/>
        </p:nvSpPr>
        <p:spPr>
          <a:xfrm>
            <a:off x="640080" y="2651760"/>
            <a:ext cx="1965960" cy="457200"/>
          </a:xfrm>
          <a:prstGeom prst="rect">
            <a:avLst/>
          </a:prstGeom>
          <a:noFill/>
        </p:spPr>
        <p:txBody>
          <a:bodyPr wrap="square" lIns="45720" tIns="18288" rIns="45720" bIns="18288" anchor="t">
            <a:spAutoFit/>
          </a:bodyPr>
          <a:lstStyle/>
          <a:p>
            <a:pPr algn="l"/>
            <a:r>
              <a:rPr sz="1600" b="1">
                <a:solidFill>
                  <a:srgbClr val="1E2761"/>
                </a:solidFill>
                <a:latin typeface="Arial"/>
              </a:rPr>
              <a:t>Extract</a:t>
            </a:r>
          </a:p>
        </p:txBody>
      </p:sp>
      <p:sp>
        <p:nvSpPr>
          <p:cNvPr id="13" name="TextBox 12"/>
          <p:cNvSpPr txBox="1"/>
          <p:nvPr/>
        </p:nvSpPr>
        <p:spPr>
          <a:xfrm>
            <a:off x="640080" y="3108960"/>
            <a:ext cx="1965960" cy="2103120"/>
          </a:xfrm>
          <a:prstGeom prst="rect">
            <a:avLst/>
          </a:prstGeom>
          <a:noFill/>
        </p:spPr>
        <p:txBody>
          <a:bodyPr wrap="square" lIns="45720" tIns="18288" rIns="45720" bIns="18288" anchor="t">
            <a:spAutoFit/>
          </a:bodyPr>
          <a:lstStyle/>
          <a:p>
            <a:pPr algn="l"/>
            <a:r>
              <a:rPr sz="1100" b="0">
                <a:solidFill>
                  <a:srgbClr val="555A6B"/>
                </a:solidFill>
                <a:latin typeface="Arial"/>
              </a:rPr>
              <a:t>Pulled the full car_sales_dataset from Databricks (558K raw rows).</a:t>
            </a:r>
          </a:p>
        </p:txBody>
      </p:sp>
      <p:sp>
        <p:nvSpPr>
          <p:cNvPr id="14" name="Rectangle 13"/>
          <p:cNvSpPr/>
          <p:nvPr/>
        </p:nvSpPr>
        <p:spPr>
          <a:xfrm>
            <a:off x="2834640" y="2011680"/>
            <a:ext cx="2240280" cy="3291840"/>
          </a:xfrm>
          <a:prstGeom prst="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834640" y="2011680"/>
            <a:ext cx="2240280"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834640" y="2011680"/>
            <a:ext cx="2240280" cy="502920"/>
          </a:xfrm>
          <a:prstGeom prst="rect">
            <a:avLst/>
          </a:prstGeom>
          <a:noFill/>
        </p:spPr>
        <p:txBody>
          <a:bodyPr wrap="square" lIns="45720" tIns="18288" rIns="45720" bIns="18288" anchor="ctr">
            <a:spAutoFit/>
          </a:bodyPr>
          <a:lstStyle/>
          <a:p>
            <a:pPr algn="ctr"/>
            <a:r>
              <a:rPr sz="1000" b="1">
                <a:solidFill>
                  <a:srgbClr val="FBC04A"/>
                </a:solidFill>
                <a:latin typeface="Arial"/>
              </a:rPr>
              <a:t>STEP 2</a:t>
            </a:r>
          </a:p>
        </p:txBody>
      </p:sp>
      <p:sp>
        <p:nvSpPr>
          <p:cNvPr id="17" name="TextBox 16"/>
          <p:cNvSpPr txBox="1"/>
          <p:nvPr/>
        </p:nvSpPr>
        <p:spPr>
          <a:xfrm>
            <a:off x="2971800" y="2651760"/>
            <a:ext cx="1965960" cy="457200"/>
          </a:xfrm>
          <a:prstGeom prst="rect">
            <a:avLst/>
          </a:prstGeom>
          <a:noFill/>
        </p:spPr>
        <p:txBody>
          <a:bodyPr wrap="square" lIns="45720" tIns="18288" rIns="45720" bIns="18288" anchor="t">
            <a:spAutoFit/>
          </a:bodyPr>
          <a:lstStyle/>
          <a:p>
            <a:pPr algn="l"/>
            <a:r>
              <a:rPr sz="1600" b="1">
                <a:solidFill>
                  <a:srgbClr val="1E2761"/>
                </a:solidFill>
                <a:latin typeface="Arial"/>
              </a:rPr>
              <a:t>Clean</a:t>
            </a:r>
          </a:p>
        </p:txBody>
      </p:sp>
      <p:sp>
        <p:nvSpPr>
          <p:cNvPr id="18" name="TextBox 17"/>
          <p:cNvSpPr txBox="1"/>
          <p:nvPr/>
        </p:nvSpPr>
        <p:spPr>
          <a:xfrm>
            <a:off x="2971800" y="3108960"/>
            <a:ext cx="1965960" cy="2103120"/>
          </a:xfrm>
          <a:prstGeom prst="rect">
            <a:avLst/>
          </a:prstGeom>
          <a:noFill/>
        </p:spPr>
        <p:txBody>
          <a:bodyPr wrap="square" lIns="45720" tIns="18288" rIns="45720" bIns="18288" anchor="t">
            <a:spAutoFit/>
          </a:bodyPr>
          <a:lstStyle/>
          <a:p>
            <a:pPr algn="l"/>
            <a:r>
              <a:rPr sz="1100" b="0">
                <a:solidFill>
                  <a:srgbClr val="555A6B"/>
                </a:solidFill>
                <a:latin typeface="Arial"/>
              </a:rPr>
              <a:t>Standardised text, fixed the 'Tue Dec 16 2014…' date format, dropped invalid prices. 548K rows retained.</a:t>
            </a:r>
          </a:p>
        </p:txBody>
      </p:sp>
      <p:sp>
        <p:nvSpPr>
          <p:cNvPr id="19" name="Rectangle 18"/>
          <p:cNvSpPr/>
          <p:nvPr/>
        </p:nvSpPr>
        <p:spPr>
          <a:xfrm>
            <a:off x="5166360" y="2011680"/>
            <a:ext cx="2240280" cy="3291840"/>
          </a:xfrm>
          <a:prstGeom prst="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166360" y="2011680"/>
            <a:ext cx="2240280"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166360" y="2011680"/>
            <a:ext cx="2240280" cy="502920"/>
          </a:xfrm>
          <a:prstGeom prst="rect">
            <a:avLst/>
          </a:prstGeom>
          <a:noFill/>
        </p:spPr>
        <p:txBody>
          <a:bodyPr wrap="square" lIns="45720" tIns="18288" rIns="45720" bIns="18288" anchor="ctr">
            <a:spAutoFit/>
          </a:bodyPr>
          <a:lstStyle/>
          <a:p>
            <a:pPr algn="ctr"/>
            <a:r>
              <a:rPr sz="1000" b="1">
                <a:solidFill>
                  <a:srgbClr val="FBC04A"/>
                </a:solidFill>
                <a:latin typeface="Arial"/>
              </a:rPr>
              <a:t>STEP 3</a:t>
            </a:r>
          </a:p>
        </p:txBody>
      </p:sp>
      <p:sp>
        <p:nvSpPr>
          <p:cNvPr id="22" name="TextBox 21"/>
          <p:cNvSpPr txBox="1"/>
          <p:nvPr/>
        </p:nvSpPr>
        <p:spPr>
          <a:xfrm>
            <a:off x="5303520" y="2651760"/>
            <a:ext cx="1965960" cy="457200"/>
          </a:xfrm>
          <a:prstGeom prst="rect">
            <a:avLst/>
          </a:prstGeom>
          <a:noFill/>
        </p:spPr>
        <p:txBody>
          <a:bodyPr wrap="square" lIns="45720" tIns="18288" rIns="45720" bIns="18288" anchor="t">
            <a:spAutoFit/>
          </a:bodyPr>
          <a:lstStyle/>
          <a:p>
            <a:pPr algn="l"/>
            <a:r>
              <a:rPr sz="1600" b="1">
                <a:solidFill>
                  <a:srgbClr val="1E2761"/>
                </a:solidFill>
                <a:latin typeface="Arial"/>
              </a:rPr>
              <a:t>Transform</a:t>
            </a:r>
          </a:p>
        </p:txBody>
      </p:sp>
      <p:sp>
        <p:nvSpPr>
          <p:cNvPr id="23" name="TextBox 22"/>
          <p:cNvSpPr txBox="1"/>
          <p:nvPr/>
        </p:nvSpPr>
        <p:spPr>
          <a:xfrm>
            <a:off x="5303520" y="3108960"/>
            <a:ext cx="1965960" cy="2103120"/>
          </a:xfrm>
          <a:prstGeom prst="rect">
            <a:avLst/>
          </a:prstGeom>
          <a:noFill/>
        </p:spPr>
        <p:txBody>
          <a:bodyPr wrap="square" lIns="45720" tIns="18288" rIns="45720" bIns="18288" anchor="t">
            <a:spAutoFit/>
          </a:bodyPr>
          <a:lstStyle/>
          <a:p>
            <a:pPr algn="l"/>
            <a:r>
              <a:rPr sz="1100" b="0">
                <a:solidFill>
                  <a:srgbClr val="555A6B"/>
                </a:solidFill>
                <a:latin typeface="Arial"/>
              </a:rPr>
              <a:t>Derived profit, profit %, vehicle age, sale_month, year and margin tiers.</a:t>
            </a:r>
          </a:p>
        </p:txBody>
      </p:sp>
      <p:sp>
        <p:nvSpPr>
          <p:cNvPr id="24" name="Rectangle 23"/>
          <p:cNvSpPr/>
          <p:nvPr/>
        </p:nvSpPr>
        <p:spPr>
          <a:xfrm>
            <a:off x="7498080" y="2011680"/>
            <a:ext cx="2240280" cy="3291840"/>
          </a:xfrm>
          <a:prstGeom prst="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498080" y="2011680"/>
            <a:ext cx="2240280"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498080" y="2011680"/>
            <a:ext cx="2240280" cy="502920"/>
          </a:xfrm>
          <a:prstGeom prst="rect">
            <a:avLst/>
          </a:prstGeom>
          <a:noFill/>
        </p:spPr>
        <p:txBody>
          <a:bodyPr wrap="square" lIns="45720" tIns="18288" rIns="45720" bIns="18288" anchor="ctr">
            <a:spAutoFit/>
          </a:bodyPr>
          <a:lstStyle/>
          <a:p>
            <a:pPr algn="ctr"/>
            <a:r>
              <a:rPr sz="1000" b="1">
                <a:solidFill>
                  <a:srgbClr val="FBC04A"/>
                </a:solidFill>
                <a:latin typeface="Arial"/>
              </a:rPr>
              <a:t>STEP 4</a:t>
            </a:r>
          </a:p>
        </p:txBody>
      </p:sp>
      <p:sp>
        <p:nvSpPr>
          <p:cNvPr id="27" name="TextBox 26"/>
          <p:cNvSpPr txBox="1"/>
          <p:nvPr/>
        </p:nvSpPr>
        <p:spPr>
          <a:xfrm>
            <a:off x="7635240" y="2651760"/>
            <a:ext cx="1965960" cy="457200"/>
          </a:xfrm>
          <a:prstGeom prst="rect">
            <a:avLst/>
          </a:prstGeom>
          <a:noFill/>
        </p:spPr>
        <p:txBody>
          <a:bodyPr wrap="square" lIns="45720" tIns="18288" rIns="45720" bIns="18288" anchor="t">
            <a:spAutoFit/>
          </a:bodyPr>
          <a:lstStyle/>
          <a:p>
            <a:pPr algn="l"/>
            <a:r>
              <a:rPr sz="1600" b="1">
                <a:solidFill>
                  <a:srgbClr val="1E2761"/>
                </a:solidFill>
                <a:latin typeface="Arial"/>
              </a:rPr>
              <a:t>Aggregate</a:t>
            </a:r>
          </a:p>
        </p:txBody>
      </p:sp>
      <p:sp>
        <p:nvSpPr>
          <p:cNvPr id="28" name="TextBox 27"/>
          <p:cNvSpPr txBox="1"/>
          <p:nvPr/>
        </p:nvSpPr>
        <p:spPr>
          <a:xfrm>
            <a:off x="7635240" y="3108960"/>
            <a:ext cx="1965960" cy="2103120"/>
          </a:xfrm>
          <a:prstGeom prst="rect">
            <a:avLst/>
          </a:prstGeom>
          <a:noFill/>
        </p:spPr>
        <p:txBody>
          <a:bodyPr wrap="square" lIns="45720" tIns="18288" rIns="45720" bIns="18288" anchor="t">
            <a:spAutoFit/>
          </a:bodyPr>
          <a:lstStyle/>
          <a:p>
            <a:pPr algn="l"/>
            <a:r>
              <a:rPr sz="1100" b="0">
                <a:solidFill>
                  <a:srgbClr val="555A6B"/>
                </a:solidFill>
                <a:latin typeface="Arial"/>
              </a:rPr>
              <a:t>Built pivots by make, state, month, body, color, year &amp; margin tier.</a:t>
            </a:r>
          </a:p>
        </p:txBody>
      </p:sp>
      <p:sp>
        <p:nvSpPr>
          <p:cNvPr id="29" name="Rectangle 28"/>
          <p:cNvSpPr/>
          <p:nvPr/>
        </p:nvSpPr>
        <p:spPr>
          <a:xfrm>
            <a:off x="9829800" y="2011680"/>
            <a:ext cx="2240280" cy="3291840"/>
          </a:xfrm>
          <a:prstGeom prst="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829800" y="2011680"/>
            <a:ext cx="2240280"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829800" y="2011680"/>
            <a:ext cx="2240280" cy="502920"/>
          </a:xfrm>
          <a:prstGeom prst="rect">
            <a:avLst/>
          </a:prstGeom>
          <a:noFill/>
        </p:spPr>
        <p:txBody>
          <a:bodyPr wrap="square" lIns="45720" tIns="18288" rIns="45720" bIns="18288" anchor="ctr">
            <a:spAutoFit/>
          </a:bodyPr>
          <a:lstStyle/>
          <a:p>
            <a:pPr algn="ctr"/>
            <a:r>
              <a:rPr sz="1000" b="1">
                <a:solidFill>
                  <a:srgbClr val="FBC04A"/>
                </a:solidFill>
                <a:latin typeface="Arial"/>
              </a:rPr>
              <a:t>STEP 5</a:t>
            </a:r>
          </a:p>
        </p:txBody>
      </p:sp>
      <p:sp>
        <p:nvSpPr>
          <p:cNvPr id="32" name="TextBox 31"/>
          <p:cNvSpPr txBox="1"/>
          <p:nvPr/>
        </p:nvSpPr>
        <p:spPr>
          <a:xfrm>
            <a:off x="9966960" y="2651760"/>
            <a:ext cx="1965960" cy="457200"/>
          </a:xfrm>
          <a:prstGeom prst="rect">
            <a:avLst/>
          </a:prstGeom>
          <a:noFill/>
        </p:spPr>
        <p:txBody>
          <a:bodyPr wrap="square" lIns="45720" tIns="18288" rIns="45720" bIns="18288" anchor="t">
            <a:spAutoFit/>
          </a:bodyPr>
          <a:lstStyle/>
          <a:p>
            <a:pPr algn="l"/>
            <a:r>
              <a:rPr sz="1600" b="1">
                <a:solidFill>
                  <a:srgbClr val="1E2761"/>
                </a:solidFill>
                <a:latin typeface="Arial"/>
              </a:rPr>
              <a:t>Visualise</a:t>
            </a:r>
          </a:p>
        </p:txBody>
      </p:sp>
      <p:sp>
        <p:nvSpPr>
          <p:cNvPr id="33" name="TextBox 32"/>
          <p:cNvSpPr txBox="1"/>
          <p:nvPr/>
        </p:nvSpPr>
        <p:spPr>
          <a:xfrm>
            <a:off x="9966960" y="3108960"/>
            <a:ext cx="1965960" cy="2103120"/>
          </a:xfrm>
          <a:prstGeom prst="rect">
            <a:avLst/>
          </a:prstGeom>
          <a:noFill/>
        </p:spPr>
        <p:txBody>
          <a:bodyPr wrap="square" lIns="45720" tIns="18288" rIns="45720" bIns="18288" anchor="t">
            <a:spAutoFit/>
          </a:bodyPr>
          <a:lstStyle/>
          <a:p>
            <a:pPr algn="l"/>
            <a:r>
              <a:rPr sz="1100" b="0">
                <a:solidFill>
                  <a:srgbClr val="555A6B"/>
                </a:solidFill>
                <a:latin typeface="Arial"/>
              </a:rPr>
              <a:t>Excel dashboard + PowerPoint deck for the Head of Sales.</a:t>
            </a:r>
          </a:p>
        </p:txBody>
      </p:sp>
      <p:sp>
        <p:nvSpPr>
          <p:cNvPr id="34" name="TextBox 33"/>
          <p:cNvSpPr txBox="1"/>
          <p:nvPr/>
        </p:nvSpPr>
        <p:spPr>
          <a:xfrm>
            <a:off x="548640" y="5577840"/>
            <a:ext cx="10972800" cy="365760"/>
          </a:xfrm>
          <a:prstGeom prst="rect">
            <a:avLst/>
          </a:prstGeom>
          <a:noFill/>
        </p:spPr>
        <p:txBody>
          <a:bodyPr wrap="square" lIns="45720" tIns="18288" rIns="45720" bIns="18288" anchor="t">
            <a:spAutoFit/>
          </a:bodyPr>
          <a:lstStyle/>
          <a:p>
            <a:pPr algn="l"/>
            <a:r>
              <a:rPr sz="1200" b="1">
                <a:solidFill>
                  <a:srgbClr val="1E2761"/>
                </a:solidFill>
                <a:latin typeface="Arial"/>
              </a:rPr>
              <a:t>Tools:  Databricks SQL  •  Python (pandas, openpyxl)  •  Microsoft Excel  •  PowerPoint  •  Looker Studio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73152"/>
            <a:ext cx="7315200" cy="365760"/>
          </a:xfrm>
          <a:prstGeom prst="rect">
            <a:avLst/>
          </a:prstGeom>
          <a:noFill/>
        </p:spPr>
        <p:txBody>
          <a:bodyPr wrap="square" lIns="45720" tIns="18288" rIns="45720" bIns="18288" anchor="t">
            <a:spAutoFit/>
          </a:bodyPr>
          <a:lstStyle/>
          <a:p>
            <a:pPr algn="l"/>
            <a:r>
              <a:rPr sz="1100" b="1">
                <a:solidFill>
                  <a:srgbClr val="CADCFC"/>
                </a:solidFill>
                <a:latin typeface="Arial"/>
              </a:rPr>
              <a:t>BRIGHT MOTORS  |  CAR SALES CASE STUDY</a:t>
            </a:r>
          </a:p>
        </p:txBody>
      </p:sp>
      <p:sp>
        <p:nvSpPr>
          <p:cNvPr id="5" name="TextBox 4"/>
          <p:cNvSpPr txBox="1"/>
          <p:nvPr/>
        </p:nvSpPr>
        <p:spPr>
          <a:xfrm>
            <a:off x="10332720" y="73152"/>
            <a:ext cx="1645920" cy="365760"/>
          </a:xfrm>
          <a:prstGeom prst="rect">
            <a:avLst/>
          </a:prstGeom>
          <a:noFill/>
        </p:spPr>
        <p:txBody>
          <a:bodyPr wrap="square" lIns="45720" tIns="18288" rIns="45720" bIns="18288" anchor="t">
            <a:spAutoFit/>
          </a:bodyPr>
          <a:lstStyle/>
          <a:p>
            <a:pPr algn="r"/>
            <a:r>
              <a:rPr sz="1100" b="1">
                <a:solidFill>
                  <a:srgbClr val="FBC04A"/>
                </a:solidFill>
                <a:latin typeface="Arial"/>
              </a:rPr>
              <a:t>2014–2015</a:t>
            </a:r>
          </a:p>
        </p:txBody>
      </p:sp>
      <p:sp>
        <p:nvSpPr>
          <p:cNvPr id="6" name="TextBox 5"/>
          <p:cNvSpPr txBox="1"/>
          <p:nvPr/>
        </p:nvSpPr>
        <p:spPr>
          <a:xfrm>
            <a:off x="457200" y="685800"/>
            <a:ext cx="11247120" cy="640080"/>
          </a:xfrm>
          <a:prstGeom prst="rect">
            <a:avLst/>
          </a:prstGeom>
          <a:noFill/>
        </p:spPr>
        <p:txBody>
          <a:bodyPr wrap="square" lIns="45720" tIns="18288" rIns="45720" bIns="18288" anchor="t">
            <a:spAutoFit/>
          </a:bodyPr>
          <a:lstStyle/>
          <a:p>
            <a:pPr algn="l"/>
            <a:r>
              <a:rPr sz="3000" b="1">
                <a:solidFill>
                  <a:srgbClr val="1E2761"/>
                </a:solidFill>
                <a:latin typeface="Arial"/>
              </a:rPr>
              <a:t>Headline KPIs</a:t>
            </a:r>
          </a:p>
        </p:txBody>
      </p:sp>
      <p:sp>
        <p:nvSpPr>
          <p:cNvPr id="7" name="TextBox 6"/>
          <p:cNvSpPr txBox="1"/>
          <p:nvPr/>
        </p:nvSpPr>
        <p:spPr>
          <a:xfrm>
            <a:off x="457200" y="1234440"/>
            <a:ext cx="11247120" cy="365760"/>
          </a:xfrm>
          <a:prstGeom prst="rect">
            <a:avLst/>
          </a:prstGeom>
          <a:noFill/>
        </p:spPr>
        <p:txBody>
          <a:bodyPr wrap="square" lIns="45720" tIns="18288" rIns="45720" bIns="18288" anchor="t">
            <a:spAutoFit/>
          </a:bodyPr>
          <a:lstStyle/>
          <a:p>
            <a:pPr algn="l"/>
            <a:r>
              <a:rPr sz="1400" b="0">
                <a:solidFill>
                  <a:srgbClr val="555A6B"/>
                </a:solidFill>
                <a:latin typeface="Arial"/>
              </a:rPr>
              <a:t>The numbers that frame everything else</a:t>
            </a:r>
          </a:p>
        </p:txBody>
      </p:sp>
      <p:sp>
        <p:nvSpPr>
          <p:cNvPr id="8" name="TextBox 7"/>
          <p:cNvSpPr txBox="1"/>
          <p:nvPr/>
        </p:nvSpPr>
        <p:spPr>
          <a:xfrm>
            <a:off x="457200" y="6537960"/>
            <a:ext cx="7315200" cy="274320"/>
          </a:xfrm>
          <a:prstGeom prst="rect">
            <a:avLst/>
          </a:prstGeom>
          <a:noFill/>
        </p:spPr>
        <p:txBody>
          <a:bodyPr wrap="square" lIns="45720" tIns="18288" rIns="45720" bIns="18288" anchor="t">
            <a:spAutoFit/>
          </a:bodyPr>
          <a:lstStyle/>
          <a:p>
            <a:pPr algn="l"/>
            <a:r>
              <a:rPr sz="900" b="0">
                <a:solidFill>
                  <a:srgbClr val="555A6B"/>
                </a:solidFill>
                <a:latin typeface="Arial"/>
              </a:rPr>
              <a:t>Source: Bright Motors car_sales_dataset (Databricks)</a:t>
            </a:r>
          </a:p>
        </p:txBody>
      </p:sp>
      <p:sp>
        <p:nvSpPr>
          <p:cNvPr id="9" name="Rectangle 8"/>
          <p:cNvSpPr/>
          <p:nvPr/>
        </p:nvSpPr>
        <p:spPr>
          <a:xfrm>
            <a:off x="548640" y="1920240"/>
            <a:ext cx="2697480" cy="1828800"/>
          </a:xfrm>
          <a:prstGeom prst="rect">
            <a:avLst/>
          </a:prstGeom>
          <a:solidFill>
            <a:srgbClr val="FFFFFF"/>
          </a:solidFill>
          <a:ln>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1920240"/>
            <a:ext cx="2697480" cy="73152"/>
          </a:xfrm>
          <a:prstGeom prst="rect">
            <a:avLst/>
          </a:prstGeom>
          <a:solidFill>
            <a:srgbClr val="FBC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2148840"/>
            <a:ext cx="2331720" cy="365760"/>
          </a:xfrm>
          <a:prstGeom prst="rect">
            <a:avLst/>
          </a:prstGeom>
          <a:noFill/>
        </p:spPr>
        <p:txBody>
          <a:bodyPr wrap="square" lIns="45720" tIns="18288" rIns="45720" bIns="18288" anchor="t">
            <a:spAutoFit/>
          </a:bodyPr>
          <a:lstStyle/>
          <a:p>
            <a:pPr algn="l"/>
            <a:r>
              <a:rPr sz="1100" b="1">
                <a:solidFill>
                  <a:srgbClr val="555A6B"/>
                </a:solidFill>
                <a:latin typeface="Arial"/>
              </a:rPr>
              <a:t>TOTAL REVENUE</a:t>
            </a:r>
          </a:p>
        </p:txBody>
      </p:sp>
      <p:sp>
        <p:nvSpPr>
          <p:cNvPr id="12" name="TextBox 11"/>
          <p:cNvSpPr txBox="1"/>
          <p:nvPr/>
        </p:nvSpPr>
        <p:spPr>
          <a:xfrm>
            <a:off x="731520" y="2514600"/>
            <a:ext cx="2331720" cy="868680"/>
          </a:xfrm>
          <a:prstGeom prst="rect">
            <a:avLst/>
          </a:prstGeom>
          <a:noFill/>
        </p:spPr>
        <p:txBody>
          <a:bodyPr wrap="square" lIns="45720" tIns="18288" rIns="45720" bIns="18288" anchor="t">
            <a:spAutoFit/>
          </a:bodyPr>
          <a:lstStyle/>
          <a:p>
            <a:pPr algn="l"/>
            <a:r>
              <a:rPr sz="3400" b="1">
                <a:solidFill>
                  <a:srgbClr val="1E2761"/>
                </a:solidFill>
                <a:latin typeface="Arial"/>
              </a:rPr>
              <a:t>$7.51B</a:t>
            </a:r>
          </a:p>
        </p:txBody>
      </p:sp>
      <p:sp>
        <p:nvSpPr>
          <p:cNvPr id="13" name="TextBox 12"/>
          <p:cNvSpPr txBox="1"/>
          <p:nvPr/>
        </p:nvSpPr>
        <p:spPr>
          <a:xfrm>
            <a:off x="731520" y="3337560"/>
            <a:ext cx="2331720" cy="365760"/>
          </a:xfrm>
          <a:prstGeom prst="rect">
            <a:avLst/>
          </a:prstGeom>
          <a:noFill/>
        </p:spPr>
        <p:txBody>
          <a:bodyPr wrap="square" lIns="45720" tIns="18288" rIns="45720" bIns="18288" anchor="t">
            <a:spAutoFit/>
          </a:bodyPr>
          <a:lstStyle/>
          <a:p>
            <a:pPr algn="l"/>
            <a:r>
              <a:rPr sz="1000" b="0">
                <a:solidFill>
                  <a:srgbClr val="555A6B"/>
                </a:solidFill>
                <a:latin typeface="Arial"/>
              </a:rPr>
              <a:t>across 548K sold vehicles</a:t>
            </a:r>
          </a:p>
        </p:txBody>
      </p:sp>
      <p:sp>
        <p:nvSpPr>
          <p:cNvPr id="14" name="Rectangle 13"/>
          <p:cNvSpPr/>
          <p:nvPr/>
        </p:nvSpPr>
        <p:spPr>
          <a:xfrm>
            <a:off x="3383280" y="1920240"/>
            <a:ext cx="2697480" cy="1828800"/>
          </a:xfrm>
          <a:prstGeom prst="rect">
            <a:avLst/>
          </a:prstGeom>
          <a:solidFill>
            <a:srgbClr val="FFFFFF"/>
          </a:solidFill>
          <a:ln>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383280" y="1920240"/>
            <a:ext cx="2697480" cy="73152"/>
          </a:xfrm>
          <a:prstGeom prst="rect">
            <a:avLst/>
          </a:prstGeom>
          <a:solidFill>
            <a:srgbClr val="FBC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566160" y="2148840"/>
            <a:ext cx="2331720" cy="365760"/>
          </a:xfrm>
          <a:prstGeom prst="rect">
            <a:avLst/>
          </a:prstGeom>
          <a:noFill/>
        </p:spPr>
        <p:txBody>
          <a:bodyPr wrap="square" lIns="45720" tIns="18288" rIns="45720" bIns="18288" anchor="t">
            <a:spAutoFit/>
          </a:bodyPr>
          <a:lstStyle/>
          <a:p>
            <a:pPr algn="l"/>
            <a:r>
              <a:rPr sz="1100" b="1">
                <a:solidFill>
                  <a:srgbClr val="555A6B"/>
                </a:solidFill>
                <a:latin typeface="Arial"/>
              </a:rPr>
              <a:t>UNITS SOLD</a:t>
            </a:r>
          </a:p>
        </p:txBody>
      </p:sp>
      <p:sp>
        <p:nvSpPr>
          <p:cNvPr id="17" name="TextBox 16"/>
          <p:cNvSpPr txBox="1"/>
          <p:nvPr/>
        </p:nvSpPr>
        <p:spPr>
          <a:xfrm>
            <a:off x="3566160" y="2514600"/>
            <a:ext cx="2331720" cy="868680"/>
          </a:xfrm>
          <a:prstGeom prst="rect">
            <a:avLst/>
          </a:prstGeom>
          <a:noFill/>
        </p:spPr>
        <p:txBody>
          <a:bodyPr wrap="square" lIns="45720" tIns="18288" rIns="45720" bIns="18288" anchor="t">
            <a:spAutoFit/>
          </a:bodyPr>
          <a:lstStyle/>
          <a:p>
            <a:pPr algn="l"/>
            <a:r>
              <a:rPr sz="3400" b="1">
                <a:solidFill>
                  <a:srgbClr val="1E2761"/>
                </a:solidFill>
                <a:latin typeface="Arial"/>
              </a:rPr>
              <a:t>548,400</a:t>
            </a:r>
          </a:p>
        </p:txBody>
      </p:sp>
      <p:sp>
        <p:nvSpPr>
          <p:cNvPr id="18" name="TextBox 17"/>
          <p:cNvSpPr txBox="1"/>
          <p:nvPr/>
        </p:nvSpPr>
        <p:spPr>
          <a:xfrm>
            <a:off x="3566160" y="3337560"/>
            <a:ext cx="2331720" cy="365760"/>
          </a:xfrm>
          <a:prstGeom prst="rect">
            <a:avLst/>
          </a:prstGeom>
          <a:noFill/>
        </p:spPr>
        <p:txBody>
          <a:bodyPr wrap="square" lIns="45720" tIns="18288" rIns="45720" bIns="18288" anchor="t">
            <a:spAutoFit/>
          </a:bodyPr>
          <a:lstStyle/>
          <a:p>
            <a:pPr algn="l"/>
            <a:r>
              <a:rPr sz="1000" b="0">
                <a:solidFill>
                  <a:srgbClr val="555A6B"/>
                </a:solidFill>
                <a:latin typeface="Arial"/>
              </a:rPr>
              <a:t>valid transactions retained</a:t>
            </a:r>
          </a:p>
        </p:txBody>
      </p:sp>
      <p:sp>
        <p:nvSpPr>
          <p:cNvPr id="19" name="Rectangle 18"/>
          <p:cNvSpPr/>
          <p:nvPr/>
        </p:nvSpPr>
        <p:spPr>
          <a:xfrm>
            <a:off x="6217920" y="1920240"/>
            <a:ext cx="2697480" cy="1828800"/>
          </a:xfrm>
          <a:prstGeom prst="rect">
            <a:avLst/>
          </a:prstGeom>
          <a:solidFill>
            <a:srgbClr val="FFFFFF"/>
          </a:solidFill>
          <a:ln>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17920" y="1920240"/>
            <a:ext cx="2697480" cy="73152"/>
          </a:xfrm>
          <a:prstGeom prst="rect">
            <a:avLst/>
          </a:prstGeom>
          <a:solidFill>
            <a:srgbClr val="FBC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0" y="2148840"/>
            <a:ext cx="2331720" cy="365760"/>
          </a:xfrm>
          <a:prstGeom prst="rect">
            <a:avLst/>
          </a:prstGeom>
          <a:noFill/>
        </p:spPr>
        <p:txBody>
          <a:bodyPr wrap="square" lIns="45720" tIns="18288" rIns="45720" bIns="18288" anchor="t">
            <a:spAutoFit/>
          </a:bodyPr>
          <a:lstStyle/>
          <a:p>
            <a:pPr algn="l"/>
            <a:r>
              <a:rPr sz="1100" b="1">
                <a:solidFill>
                  <a:srgbClr val="555A6B"/>
                </a:solidFill>
                <a:latin typeface="Arial"/>
              </a:rPr>
              <a:t>AVG SELLING PRICE</a:t>
            </a:r>
          </a:p>
        </p:txBody>
      </p:sp>
      <p:sp>
        <p:nvSpPr>
          <p:cNvPr id="22" name="TextBox 21"/>
          <p:cNvSpPr txBox="1"/>
          <p:nvPr/>
        </p:nvSpPr>
        <p:spPr>
          <a:xfrm>
            <a:off x="6400800" y="2514600"/>
            <a:ext cx="2331720" cy="868680"/>
          </a:xfrm>
          <a:prstGeom prst="rect">
            <a:avLst/>
          </a:prstGeom>
          <a:noFill/>
        </p:spPr>
        <p:txBody>
          <a:bodyPr wrap="square" lIns="45720" tIns="18288" rIns="45720" bIns="18288" anchor="t">
            <a:spAutoFit/>
          </a:bodyPr>
          <a:lstStyle/>
          <a:p>
            <a:pPr algn="l"/>
            <a:r>
              <a:rPr sz="3400" b="1">
                <a:solidFill>
                  <a:srgbClr val="1E2761"/>
                </a:solidFill>
                <a:latin typeface="Arial"/>
              </a:rPr>
              <a:t>$12,531</a:t>
            </a:r>
          </a:p>
        </p:txBody>
      </p:sp>
      <p:sp>
        <p:nvSpPr>
          <p:cNvPr id="23" name="TextBox 22"/>
          <p:cNvSpPr txBox="1"/>
          <p:nvPr/>
        </p:nvSpPr>
        <p:spPr>
          <a:xfrm>
            <a:off x="6400800" y="3337560"/>
            <a:ext cx="2331720" cy="365760"/>
          </a:xfrm>
          <a:prstGeom prst="rect">
            <a:avLst/>
          </a:prstGeom>
          <a:noFill/>
        </p:spPr>
        <p:txBody>
          <a:bodyPr wrap="square" lIns="45720" tIns="18288" rIns="45720" bIns="18288" anchor="t">
            <a:spAutoFit/>
          </a:bodyPr>
          <a:lstStyle/>
          <a:p>
            <a:pPr algn="l"/>
            <a:r>
              <a:rPr sz="1000" b="0">
                <a:solidFill>
                  <a:srgbClr val="555A6B"/>
                </a:solidFill>
                <a:latin typeface="Arial"/>
              </a:rPr>
              <a:t>per vehicle, all segments</a:t>
            </a:r>
          </a:p>
        </p:txBody>
      </p:sp>
      <p:sp>
        <p:nvSpPr>
          <p:cNvPr id="24" name="Rectangle 23"/>
          <p:cNvSpPr/>
          <p:nvPr/>
        </p:nvSpPr>
        <p:spPr>
          <a:xfrm>
            <a:off x="9052560" y="1920240"/>
            <a:ext cx="2697480" cy="1828800"/>
          </a:xfrm>
          <a:prstGeom prst="rect">
            <a:avLst/>
          </a:prstGeom>
          <a:solidFill>
            <a:srgbClr val="FFFFFF"/>
          </a:solidFill>
          <a:ln>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9052560" y="1920240"/>
            <a:ext cx="2697480" cy="73152"/>
          </a:xfrm>
          <a:prstGeom prst="rect">
            <a:avLst/>
          </a:prstGeom>
          <a:solidFill>
            <a:srgbClr val="FBC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235440" y="2148840"/>
            <a:ext cx="2331720" cy="365760"/>
          </a:xfrm>
          <a:prstGeom prst="rect">
            <a:avLst/>
          </a:prstGeom>
          <a:noFill/>
        </p:spPr>
        <p:txBody>
          <a:bodyPr wrap="square" lIns="45720" tIns="18288" rIns="45720" bIns="18288" anchor="t">
            <a:spAutoFit/>
          </a:bodyPr>
          <a:lstStyle/>
          <a:p>
            <a:pPr algn="l"/>
            <a:r>
              <a:rPr sz="1100" b="1">
                <a:solidFill>
                  <a:srgbClr val="555A6B"/>
                </a:solidFill>
                <a:latin typeface="Arial"/>
              </a:rPr>
              <a:t>AVG PROFIT MARGIN</a:t>
            </a:r>
          </a:p>
        </p:txBody>
      </p:sp>
      <p:sp>
        <p:nvSpPr>
          <p:cNvPr id="27" name="TextBox 26"/>
          <p:cNvSpPr txBox="1"/>
          <p:nvPr/>
        </p:nvSpPr>
        <p:spPr>
          <a:xfrm>
            <a:off x="9235440" y="2514600"/>
            <a:ext cx="2331720" cy="868680"/>
          </a:xfrm>
          <a:prstGeom prst="rect">
            <a:avLst/>
          </a:prstGeom>
          <a:noFill/>
        </p:spPr>
        <p:txBody>
          <a:bodyPr wrap="square" lIns="45720" tIns="18288" rIns="45720" bIns="18288" anchor="t">
            <a:spAutoFit/>
          </a:bodyPr>
          <a:lstStyle/>
          <a:p>
            <a:pPr algn="l"/>
            <a:r>
              <a:rPr sz="3400" b="1">
                <a:solidFill>
                  <a:srgbClr val="D1494F"/>
                </a:solidFill>
                <a:latin typeface="Arial"/>
              </a:rPr>
              <a:t>-1.0%</a:t>
            </a:r>
          </a:p>
        </p:txBody>
      </p:sp>
      <p:sp>
        <p:nvSpPr>
          <p:cNvPr id="28" name="TextBox 27"/>
          <p:cNvSpPr txBox="1"/>
          <p:nvPr/>
        </p:nvSpPr>
        <p:spPr>
          <a:xfrm>
            <a:off x="9235440" y="3337560"/>
            <a:ext cx="2331720" cy="365760"/>
          </a:xfrm>
          <a:prstGeom prst="rect">
            <a:avLst/>
          </a:prstGeom>
          <a:noFill/>
        </p:spPr>
        <p:txBody>
          <a:bodyPr wrap="square" lIns="45720" tIns="18288" rIns="45720" bIns="18288" anchor="t">
            <a:spAutoFit/>
          </a:bodyPr>
          <a:lstStyle/>
          <a:p>
            <a:pPr algn="l"/>
            <a:r>
              <a:rPr sz="1000" b="0">
                <a:solidFill>
                  <a:srgbClr val="555A6B"/>
                </a:solidFill>
                <a:latin typeface="Arial"/>
              </a:rPr>
              <a:t>fleet-wide — pricing pressure</a:t>
            </a:r>
          </a:p>
        </p:txBody>
      </p:sp>
      <p:sp>
        <p:nvSpPr>
          <p:cNvPr id="29" name="Rectangle 28"/>
          <p:cNvSpPr/>
          <p:nvPr/>
        </p:nvSpPr>
        <p:spPr>
          <a:xfrm>
            <a:off x="548640" y="4023360"/>
            <a:ext cx="2697480" cy="1280160"/>
          </a:xfrm>
          <a:prstGeom prst="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1520" y="4206240"/>
            <a:ext cx="2331720" cy="365760"/>
          </a:xfrm>
          <a:prstGeom prst="rect">
            <a:avLst/>
          </a:prstGeom>
          <a:noFill/>
        </p:spPr>
        <p:txBody>
          <a:bodyPr wrap="square" lIns="45720" tIns="18288" rIns="45720" bIns="18288" anchor="t">
            <a:spAutoFit/>
          </a:bodyPr>
          <a:lstStyle/>
          <a:p>
            <a:pPr algn="l"/>
            <a:r>
              <a:rPr sz="1000" b="1">
                <a:solidFill>
                  <a:srgbClr val="555A6B"/>
                </a:solidFill>
                <a:latin typeface="Arial"/>
              </a:rPr>
              <a:t>UNIQUE MAKES</a:t>
            </a:r>
          </a:p>
        </p:txBody>
      </p:sp>
      <p:sp>
        <p:nvSpPr>
          <p:cNvPr id="31" name="TextBox 30"/>
          <p:cNvSpPr txBox="1"/>
          <p:nvPr/>
        </p:nvSpPr>
        <p:spPr>
          <a:xfrm>
            <a:off x="731520" y="4526280"/>
            <a:ext cx="2331720" cy="731520"/>
          </a:xfrm>
          <a:prstGeom prst="rect">
            <a:avLst/>
          </a:prstGeom>
          <a:noFill/>
        </p:spPr>
        <p:txBody>
          <a:bodyPr wrap="square" lIns="45720" tIns="18288" rIns="45720" bIns="18288" anchor="t">
            <a:spAutoFit/>
          </a:bodyPr>
          <a:lstStyle/>
          <a:p>
            <a:pPr algn="l"/>
            <a:r>
              <a:rPr sz="2800" b="1">
                <a:solidFill>
                  <a:srgbClr val="1E2761"/>
                </a:solidFill>
                <a:latin typeface="Arial"/>
              </a:rPr>
              <a:t>66</a:t>
            </a:r>
          </a:p>
        </p:txBody>
      </p:sp>
      <p:sp>
        <p:nvSpPr>
          <p:cNvPr id="32" name="Rectangle 31"/>
          <p:cNvSpPr/>
          <p:nvPr/>
        </p:nvSpPr>
        <p:spPr>
          <a:xfrm>
            <a:off x="3383280" y="4023360"/>
            <a:ext cx="2697480" cy="1280160"/>
          </a:xfrm>
          <a:prstGeom prst="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566160" y="4206240"/>
            <a:ext cx="2331720" cy="365760"/>
          </a:xfrm>
          <a:prstGeom prst="rect">
            <a:avLst/>
          </a:prstGeom>
          <a:noFill/>
        </p:spPr>
        <p:txBody>
          <a:bodyPr wrap="square" lIns="45720" tIns="18288" rIns="45720" bIns="18288" anchor="t">
            <a:spAutoFit/>
          </a:bodyPr>
          <a:lstStyle/>
          <a:p>
            <a:pPr algn="l"/>
            <a:r>
              <a:rPr sz="1000" b="1">
                <a:solidFill>
                  <a:srgbClr val="555A6B"/>
                </a:solidFill>
                <a:latin typeface="Arial"/>
              </a:rPr>
              <a:t>UNIQUE MODELS</a:t>
            </a:r>
          </a:p>
        </p:txBody>
      </p:sp>
      <p:sp>
        <p:nvSpPr>
          <p:cNvPr id="34" name="TextBox 33"/>
          <p:cNvSpPr txBox="1"/>
          <p:nvPr/>
        </p:nvSpPr>
        <p:spPr>
          <a:xfrm>
            <a:off x="3566160" y="4526280"/>
            <a:ext cx="2331720" cy="731520"/>
          </a:xfrm>
          <a:prstGeom prst="rect">
            <a:avLst/>
          </a:prstGeom>
          <a:noFill/>
        </p:spPr>
        <p:txBody>
          <a:bodyPr wrap="square" lIns="45720" tIns="18288" rIns="45720" bIns="18288" anchor="t">
            <a:spAutoFit/>
          </a:bodyPr>
          <a:lstStyle/>
          <a:p>
            <a:pPr algn="l"/>
            <a:r>
              <a:rPr sz="2800" b="1">
                <a:solidFill>
                  <a:srgbClr val="1E2761"/>
                </a:solidFill>
                <a:latin typeface="Arial"/>
              </a:rPr>
              <a:t>973</a:t>
            </a:r>
          </a:p>
        </p:txBody>
      </p:sp>
      <p:sp>
        <p:nvSpPr>
          <p:cNvPr id="35" name="Rectangle 34"/>
          <p:cNvSpPr/>
          <p:nvPr/>
        </p:nvSpPr>
        <p:spPr>
          <a:xfrm>
            <a:off x="6217920" y="4023360"/>
            <a:ext cx="2697480" cy="1280160"/>
          </a:xfrm>
          <a:prstGeom prst="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00800" y="4206240"/>
            <a:ext cx="2331720" cy="365760"/>
          </a:xfrm>
          <a:prstGeom prst="rect">
            <a:avLst/>
          </a:prstGeom>
          <a:noFill/>
        </p:spPr>
        <p:txBody>
          <a:bodyPr wrap="square" lIns="45720" tIns="18288" rIns="45720" bIns="18288" anchor="t">
            <a:spAutoFit/>
          </a:bodyPr>
          <a:lstStyle/>
          <a:p>
            <a:pPr algn="l"/>
            <a:r>
              <a:rPr sz="1000" b="1">
                <a:solidFill>
                  <a:srgbClr val="555A6B"/>
                </a:solidFill>
                <a:latin typeface="Arial"/>
              </a:rPr>
              <a:t>STATES COVERED</a:t>
            </a:r>
          </a:p>
        </p:txBody>
      </p:sp>
      <p:sp>
        <p:nvSpPr>
          <p:cNvPr id="37" name="TextBox 36"/>
          <p:cNvSpPr txBox="1"/>
          <p:nvPr/>
        </p:nvSpPr>
        <p:spPr>
          <a:xfrm>
            <a:off x="6400800" y="4526280"/>
            <a:ext cx="2331720" cy="731520"/>
          </a:xfrm>
          <a:prstGeom prst="rect">
            <a:avLst/>
          </a:prstGeom>
          <a:noFill/>
        </p:spPr>
        <p:txBody>
          <a:bodyPr wrap="square" lIns="45720" tIns="18288" rIns="45720" bIns="18288" anchor="t">
            <a:spAutoFit/>
          </a:bodyPr>
          <a:lstStyle/>
          <a:p>
            <a:pPr algn="l"/>
            <a:r>
              <a:rPr sz="2800" b="1">
                <a:solidFill>
                  <a:srgbClr val="1E2761"/>
                </a:solidFill>
                <a:latin typeface="Arial"/>
              </a:rPr>
              <a:t>38</a:t>
            </a:r>
          </a:p>
        </p:txBody>
      </p:sp>
      <p:sp>
        <p:nvSpPr>
          <p:cNvPr id="38" name="Rectangle 37"/>
          <p:cNvSpPr/>
          <p:nvPr/>
        </p:nvSpPr>
        <p:spPr>
          <a:xfrm>
            <a:off x="9052560" y="4023360"/>
            <a:ext cx="2697480" cy="1280160"/>
          </a:xfrm>
          <a:prstGeom prst="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235440" y="4206240"/>
            <a:ext cx="2331720" cy="365760"/>
          </a:xfrm>
          <a:prstGeom prst="rect">
            <a:avLst/>
          </a:prstGeom>
          <a:noFill/>
        </p:spPr>
        <p:txBody>
          <a:bodyPr wrap="square" lIns="45720" tIns="18288" rIns="45720" bIns="18288" anchor="t">
            <a:spAutoFit/>
          </a:bodyPr>
          <a:lstStyle/>
          <a:p>
            <a:pPr algn="l"/>
            <a:r>
              <a:rPr sz="1000" b="1">
                <a:solidFill>
                  <a:srgbClr val="555A6B"/>
                </a:solidFill>
                <a:latin typeface="Arial"/>
              </a:rPr>
              <a:t>MONTHS IN RANGE</a:t>
            </a:r>
          </a:p>
        </p:txBody>
      </p:sp>
      <p:sp>
        <p:nvSpPr>
          <p:cNvPr id="40" name="TextBox 39"/>
          <p:cNvSpPr txBox="1"/>
          <p:nvPr/>
        </p:nvSpPr>
        <p:spPr>
          <a:xfrm>
            <a:off x="9235440" y="4526280"/>
            <a:ext cx="2331720" cy="731520"/>
          </a:xfrm>
          <a:prstGeom prst="rect">
            <a:avLst/>
          </a:prstGeom>
          <a:noFill/>
        </p:spPr>
        <p:txBody>
          <a:bodyPr wrap="square" lIns="45720" tIns="18288" rIns="45720" bIns="18288" anchor="t">
            <a:spAutoFit/>
          </a:bodyPr>
          <a:lstStyle/>
          <a:p>
            <a:pPr algn="l"/>
            <a:r>
              <a:rPr sz="2800" b="1">
                <a:solidFill>
                  <a:srgbClr val="1E2761"/>
                </a:solidFill>
                <a:latin typeface="Arial"/>
              </a:rPr>
              <a:t>10</a:t>
            </a:r>
          </a:p>
        </p:txBody>
      </p:sp>
      <p:sp>
        <p:nvSpPr>
          <p:cNvPr id="41" name="TextBox 40"/>
          <p:cNvSpPr txBox="1"/>
          <p:nvPr/>
        </p:nvSpPr>
        <p:spPr>
          <a:xfrm>
            <a:off x="548640" y="5577840"/>
            <a:ext cx="11064240" cy="640080"/>
          </a:xfrm>
          <a:prstGeom prst="rect">
            <a:avLst/>
          </a:prstGeom>
          <a:noFill/>
        </p:spPr>
        <p:txBody>
          <a:bodyPr wrap="square" lIns="45720" tIns="18288" rIns="45720" bIns="18288" anchor="t">
            <a:spAutoFit/>
          </a:bodyPr>
          <a:lstStyle/>
          <a:p>
            <a:pPr algn="l"/>
            <a:r>
              <a:rPr sz="1300" b="1">
                <a:solidFill>
                  <a:srgbClr val="1E2761"/>
                </a:solidFill>
                <a:latin typeface="Arial"/>
              </a:rPr>
              <a:t>Takeaway: strong volume and revenue, but a slightly negative fleet margin signals over-discounting in a few large segments — the next slides show where.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73152"/>
            <a:ext cx="7315200" cy="365760"/>
          </a:xfrm>
          <a:prstGeom prst="rect">
            <a:avLst/>
          </a:prstGeom>
          <a:noFill/>
        </p:spPr>
        <p:txBody>
          <a:bodyPr wrap="square" lIns="45720" tIns="18288" rIns="45720" bIns="18288" anchor="t">
            <a:spAutoFit/>
          </a:bodyPr>
          <a:lstStyle/>
          <a:p>
            <a:pPr algn="l"/>
            <a:r>
              <a:rPr sz="1100" b="1">
                <a:solidFill>
                  <a:srgbClr val="CADCFC"/>
                </a:solidFill>
                <a:latin typeface="Arial"/>
              </a:rPr>
              <a:t>BRIGHT MOTORS  |  CAR SALES CASE STUDY</a:t>
            </a:r>
          </a:p>
        </p:txBody>
      </p:sp>
      <p:sp>
        <p:nvSpPr>
          <p:cNvPr id="5" name="TextBox 4"/>
          <p:cNvSpPr txBox="1"/>
          <p:nvPr/>
        </p:nvSpPr>
        <p:spPr>
          <a:xfrm>
            <a:off x="10332720" y="73152"/>
            <a:ext cx="1645920" cy="365760"/>
          </a:xfrm>
          <a:prstGeom prst="rect">
            <a:avLst/>
          </a:prstGeom>
          <a:noFill/>
        </p:spPr>
        <p:txBody>
          <a:bodyPr wrap="square" lIns="45720" tIns="18288" rIns="45720" bIns="18288" anchor="t">
            <a:spAutoFit/>
          </a:bodyPr>
          <a:lstStyle/>
          <a:p>
            <a:pPr algn="r"/>
            <a:r>
              <a:rPr sz="1100" b="1">
                <a:solidFill>
                  <a:srgbClr val="FBC04A"/>
                </a:solidFill>
                <a:latin typeface="Arial"/>
              </a:rPr>
              <a:t>2014–2015</a:t>
            </a:r>
          </a:p>
        </p:txBody>
      </p:sp>
      <p:sp>
        <p:nvSpPr>
          <p:cNvPr id="6" name="TextBox 5"/>
          <p:cNvSpPr txBox="1"/>
          <p:nvPr/>
        </p:nvSpPr>
        <p:spPr>
          <a:xfrm>
            <a:off x="457200" y="685800"/>
            <a:ext cx="11247120" cy="640080"/>
          </a:xfrm>
          <a:prstGeom prst="rect">
            <a:avLst/>
          </a:prstGeom>
          <a:noFill/>
        </p:spPr>
        <p:txBody>
          <a:bodyPr wrap="square" lIns="45720" tIns="18288" rIns="45720" bIns="18288" anchor="t">
            <a:spAutoFit/>
          </a:bodyPr>
          <a:lstStyle/>
          <a:p>
            <a:pPr algn="l"/>
            <a:r>
              <a:rPr sz="3000" b="1">
                <a:solidFill>
                  <a:srgbClr val="1E2761"/>
                </a:solidFill>
                <a:latin typeface="Arial"/>
              </a:rPr>
              <a:t>Top brands by revenue</a:t>
            </a:r>
          </a:p>
        </p:txBody>
      </p:sp>
      <p:sp>
        <p:nvSpPr>
          <p:cNvPr id="7" name="TextBox 6"/>
          <p:cNvSpPr txBox="1"/>
          <p:nvPr/>
        </p:nvSpPr>
        <p:spPr>
          <a:xfrm>
            <a:off x="457200" y="1234440"/>
            <a:ext cx="11247120" cy="365760"/>
          </a:xfrm>
          <a:prstGeom prst="rect">
            <a:avLst/>
          </a:prstGeom>
          <a:noFill/>
        </p:spPr>
        <p:txBody>
          <a:bodyPr wrap="square" lIns="45720" tIns="18288" rIns="45720" bIns="18288" anchor="t">
            <a:spAutoFit/>
          </a:bodyPr>
          <a:lstStyle/>
          <a:p>
            <a:pPr algn="l"/>
            <a:r>
              <a:rPr sz="1400" b="0">
                <a:solidFill>
                  <a:srgbClr val="555A6B"/>
                </a:solidFill>
                <a:latin typeface="Arial"/>
              </a:rPr>
              <a:t>Ford, Chevrolet and Nissan dominate the book</a:t>
            </a:r>
          </a:p>
        </p:txBody>
      </p:sp>
      <p:sp>
        <p:nvSpPr>
          <p:cNvPr id="8" name="TextBox 7"/>
          <p:cNvSpPr txBox="1"/>
          <p:nvPr/>
        </p:nvSpPr>
        <p:spPr>
          <a:xfrm>
            <a:off x="457200" y="6537960"/>
            <a:ext cx="7315200" cy="274320"/>
          </a:xfrm>
          <a:prstGeom prst="rect">
            <a:avLst/>
          </a:prstGeom>
          <a:noFill/>
        </p:spPr>
        <p:txBody>
          <a:bodyPr wrap="square" lIns="45720" tIns="18288" rIns="45720" bIns="18288" anchor="t">
            <a:spAutoFit/>
          </a:bodyPr>
          <a:lstStyle/>
          <a:p>
            <a:pPr algn="l"/>
            <a:r>
              <a:rPr sz="900" b="0">
                <a:solidFill>
                  <a:srgbClr val="555A6B"/>
                </a:solidFill>
                <a:latin typeface="Arial"/>
              </a:rPr>
              <a:t>Source: Bright Motors car_sales_dataset (Databricks)</a:t>
            </a:r>
          </a:p>
        </p:txBody>
      </p:sp>
      <p:pic>
        <p:nvPicPr>
          <p:cNvPr id="9" name="Picture 8" descr="makes.png"/>
          <p:cNvPicPr>
            <a:picLocks noChangeAspect="1"/>
          </p:cNvPicPr>
          <p:nvPr/>
        </p:nvPicPr>
        <p:blipFill>
          <a:blip r:embed="rId2"/>
          <a:stretch>
            <a:fillRect/>
          </a:stretch>
        </p:blipFill>
        <p:spPr>
          <a:xfrm>
            <a:off x="457200" y="1828800"/>
            <a:ext cx="6949440" cy="4408455"/>
          </a:xfrm>
          <a:prstGeom prst="rect">
            <a:avLst/>
          </a:prstGeom>
        </p:spPr>
      </p:pic>
      <p:sp>
        <p:nvSpPr>
          <p:cNvPr id="10" name="Rectangle 9"/>
          <p:cNvSpPr/>
          <p:nvPr/>
        </p:nvSpPr>
        <p:spPr>
          <a:xfrm>
            <a:off x="7680960" y="1828800"/>
            <a:ext cx="4023360" cy="4206240"/>
          </a:xfrm>
          <a:prstGeom prst="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680960" y="1828800"/>
            <a:ext cx="73152" cy="4206240"/>
          </a:xfrm>
          <a:prstGeom prst="rect">
            <a:avLst/>
          </a:prstGeom>
          <a:solidFill>
            <a:srgbClr val="FBC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863840" y="1965960"/>
            <a:ext cx="3657600" cy="365760"/>
          </a:xfrm>
          <a:prstGeom prst="rect">
            <a:avLst/>
          </a:prstGeom>
          <a:noFill/>
        </p:spPr>
        <p:txBody>
          <a:bodyPr wrap="square" lIns="45720" tIns="18288" rIns="45720" bIns="18288" anchor="t">
            <a:spAutoFit/>
          </a:bodyPr>
          <a:lstStyle/>
          <a:p>
            <a:pPr algn="l"/>
            <a:r>
              <a:rPr sz="1100" b="1">
                <a:solidFill>
                  <a:srgbClr val="FBC04A"/>
                </a:solidFill>
                <a:latin typeface="Arial"/>
              </a:rPr>
              <a:t>WHAT THE DATA SAYS</a:t>
            </a:r>
          </a:p>
        </p:txBody>
      </p:sp>
      <p:sp>
        <p:nvSpPr>
          <p:cNvPr id="13" name="TextBox 12"/>
          <p:cNvSpPr txBox="1"/>
          <p:nvPr/>
        </p:nvSpPr>
        <p:spPr>
          <a:xfrm>
            <a:off x="7863840" y="2331720"/>
            <a:ext cx="3749039" cy="3657600"/>
          </a:xfrm>
          <a:prstGeom prst="rect">
            <a:avLst/>
          </a:prstGeom>
          <a:noFill/>
        </p:spPr>
        <p:txBody>
          <a:bodyPr wrap="square" lIns="45720" tIns="18288" rIns="45720" bIns="18288" anchor="t">
            <a:spAutoFit/>
          </a:bodyPr>
          <a:lstStyle/>
          <a:p>
            <a:pPr algn="l"/>
            <a:r>
              <a:rPr sz="1200" b="0">
                <a:solidFill>
                  <a:srgbClr val="1A1F36"/>
                </a:solidFill>
                <a:latin typeface="Arial"/>
              </a:rPr>
              <a:t>• Ford leads with $1.36B revenue from 94K units — our anchor brand.</a:t>
            </a:r>
          </a:p>
          <a:p>
            <a:pPr algn="l"/>
            <a:endParaRPr sz="1200" b="0">
              <a:solidFill>
                <a:srgbClr val="1A1F36"/>
              </a:solidFill>
              <a:latin typeface="Arial"/>
            </a:endParaRPr>
          </a:p>
          <a:p>
            <a:pPr algn="l"/>
            <a:r>
              <a:rPr sz="1200" b="0">
                <a:solidFill>
                  <a:srgbClr val="1A1F36"/>
                </a:solidFill>
                <a:latin typeface="Arial"/>
              </a:rPr>
              <a:t>• Top 5 makes (Ford, Chevy, Nissan, Toyota, BMW) drive ~50% of revenue.</a:t>
            </a:r>
          </a:p>
          <a:p>
            <a:pPr algn="l"/>
            <a:endParaRPr sz="1200" b="0">
              <a:solidFill>
                <a:srgbClr val="1A1F36"/>
              </a:solidFill>
              <a:latin typeface="Arial"/>
            </a:endParaRPr>
          </a:p>
          <a:p>
            <a:pPr algn="l"/>
            <a:r>
              <a:rPr sz="1200" b="0">
                <a:solidFill>
                  <a:srgbClr val="1A1F36"/>
                </a:solidFill>
                <a:latin typeface="Arial"/>
              </a:rPr>
              <a:t>• Premium brands (BMW, Mercedes, Lexus) carry the strongest avg prices ($18K–$22K).</a:t>
            </a:r>
          </a:p>
          <a:p>
            <a:pPr algn="l"/>
            <a:endParaRPr sz="1200" b="0">
              <a:solidFill>
                <a:srgbClr val="1A1F36"/>
              </a:solidFill>
              <a:latin typeface="Arial"/>
            </a:endParaRPr>
          </a:p>
          <a:p>
            <a:pPr algn="l"/>
            <a:r>
              <a:rPr sz="1200" b="0">
                <a:solidFill>
                  <a:srgbClr val="1A1F36"/>
                </a:solidFill>
                <a:latin typeface="Arial"/>
              </a:rPr>
              <a:t>• Mercedes-Benz &amp; Lexus are the only top brands with positive avg margins.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73152"/>
            <a:ext cx="7315200" cy="365760"/>
          </a:xfrm>
          <a:prstGeom prst="rect">
            <a:avLst/>
          </a:prstGeom>
          <a:noFill/>
        </p:spPr>
        <p:txBody>
          <a:bodyPr wrap="square" lIns="45720" tIns="18288" rIns="45720" bIns="18288" anchor="t">
            <a:spAutoFit/>
          </a:bodyPr>
          <a:lstStyle/>
          <a:p>
            <a:pPr algn="l"/>
            <a:r>
              <a:rPr sz="1100" b="1">
                <a:solidFill>
                  <a:srgbClr val="CADCFC"/>
                </a:solidFill>
                <a:latin typeface="Arial"/>
              </a:rPr>
              <a:t>BRIGHT MOTORS  |  CAR SALES CASE STUDY</a:t>
            </a:r>
          </a:p>
        </p:txBody>
      </p:sp>
      <p:sp>
        <p:nvSpPr>
          <p:cNvPr id="5" name="TextBox 4"/>
          <p:cNvSpPr txBox="1"/>
          <p:nvPr/>
        </p:nvSpPr>
        <p:spPr>
          <a:xfrm>
            <a:off x="10332720" y="73152"/>
            <a:ext cx="1645920" cy="365760"/>
          </a:xfrm>
          <a:prstGeom prst="rect">
            <a:avLst/>
          </a:prstGeom>
          <a:noFill/>
        </p:spPr>
        <p:txBody>
          <a:bodyPr wrap="square" lIns="45720" tIns="18288" rIns="45720" bIns="18288" anchor="t">
            <a:spAutoFit/>
          </a:bodyPr>
          <a:lstStyle/>
          <a:p>
            <a:pPr algn="r"/>
            <a:r>
              <a:rPr sz="1100" b="1">
                <a:solidFill>
                  <a:srgbClr val="FBC04A"/>
                </a:solidFill>
                <a:latin typeface="Arial"/>
              </a:rPr>
              <a:t>2014–2015</a:t>
            </a:r>
          </a:p>
        </p:txBody>
      </p:sp>
      <p:sp>
        <p:nvSpPr>
          <p:cNvPr id="6" name="TextBox 5"/>
          <p:cNvSpPr txBox="1"/>
          <p:nvPr/>
        </p:nvSpPr>
        <p:spPr>
          <a:xfrm>
            <a:off x="457200" y="685800"/>
            <a:ext cx="11247120" cy="640080"/>
          </a:xfrm>
          <a:prstGeom prst="rect">
            <a:avLst/>
          </a:prstGeom>
          <a:noFill/>
        </p:spPr>
        <p:txBody>
          <a:bodyPr wrap="square" lIns="45720" tIns="18288" rIns="45720" bIns="18288" anchor="t">
            <a:spAutoFit/>
          </a:bodyPr>
          <a:lstStyle/>
          <a:p>
            <a:pPr algn="l"/>
            <a:r>
              <a:rPr sz="3000" b="1">
                <a:solidFill>
                  <a:srgbClr val="1E2761"/>
                </a:solidFill>
                <a:latin typeface="Arial"/>
              </a:rPr>
              <a:t>Where we sell</a:t>
            </a:r>
          </a:p>
        </p:txBody>
      </p:sp>
      <p:sp>
        <p:nvSpPr>
          <p:cNvPr id="7" name="TextBox 6"/>
          <p:cNvSpPr txBox="1"/>
          <p:nvPr/>
        </p:nvSpPr>
        <p:spPr>
          <a:xfrm>
            <a:off x="457200" y="1234440"/>
            <a:ext cx="11247120" cy="365760"/>
          </a:xfrm>
          <a:prstGeom prst="rect">
            <a:avLst/>
          </a:prstGeom>
          <a:noFill/>
        </p:spPr>
        <p:txBody>
          <a:bodyPr wrap="square" lIns="45720" tIns="18288" rIns="45720" bIns="18288" anchor="t">
            <a:spAutoFit/>
          </a:bodyPr>
          <a:lstStyle/>
          <a:p>
            <a:pPr algn="l"/>
            <a:r>
              <a:rPr sz="1400" b="0">
                <a:solidFill>
                  <a:srgbClr val="555A6B"/>
                </a:solidFill>
                <a:latin typeface="Arial"/>
              </a:rPr>
              <a:t>Florida and California lead a concentrated geography</a:t>
            </a:r>
          </a:p>
        </p:txBody>
      </p:sp>
      <p:sp>
        <p:nvSpPr>
          <p:cNvPr id="8" name="TextBox 7"/>
          <p:cNvSpPr txBox="1"/>
          <p:nvPr/>
        </p:nvSpPr>
        <p:spPr>
          <a:xfrm>
            <a:off x="457200" y="6537960"/>
            <a:ext cx="7315200" cy="274320"/>
          </a:xfrm>
          <a:prstGeom prst="rect">
            <a:avLst/>
          </a:prstGeom>
          <a:noFill/>
        </p:spPr>
        <p:txBody>
          <a:bodyPr wrap="square" lIns="45720" tIns="18288" rIns="45720" bIns="18288" anchor="t">
            <a:spAutoFit/>
          </a:bodyPr>
          <a:lstStyle/>
          <a:p>
            <a:pPr algn="l"/>
            <a:r>
              <a:rPr sz="900" b="0">
                <a:solidFill>
                  <a:srgbClr val="555A6B"/>
                </a:solidFill>
                <a:latin typeface="Arial"/>
              </a:rPr>
              <a:t>Source: Bright Motors car_sales_dataset (Databricks)</a:t>
            </a:r>
          </a:p>
        </p:txBody>
      </p:sp>
      <p:pic>
        <p:nvPicPr>
          <p:cNvPr id="9" name="Picture 8" descr="states.png"/>
          <p:cNvPicPr>
            <a:picLocks noChangeAspect="1"/>
          </p:cNvPicPr>
          <p:nvPr/>
        </p:nvPicPr>
        <p:blipFill>
          <a:blip r:embed="rId2"/>
          <a:stretch>
            <a:fillRect/>
          </a:stretch>
        </p:blipFill>
        <p:spPr>
          <a:xfrm>
            <a:off x="457200" y="1828800"/>
            <a:ext cx="6949440" cy="4404575"/>
          </a:xfrm>
          <a:prstGeom prst="rect">
            <a:avLst/>
          </a:prstGeom>
        </p:spPr>
      </p:pic>
      <p:sp>
        <p:nvSpPr>
          <p:cNvPr id="10" name="Rectangle 9"/>
          <p:cNvSpPr/>
          <p:nvPr/>
        </p:nvSpPr>
        <p:spPr>
          <a:xfrm>
            <a:off x="7680960" y="1828800"/>
            <a:ext cx="4023360" cy="4206240"/>
          </a:xfrm>
          <a:prstGeom prst="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680960" y="1828800"/>
            <a:ext cx="73152" cy="4206240"/>
          </a:xfrm>
          <a:prstGeom prst="rect">
            <a:avLst/>
          </a:prstGeom>
          <a:solidFill>
            <a:srgbClr val="FBC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863840" y="1965960"/>
            <a:ext cx="3657600" cy="365760"/>
          </a:xfrm>
          <a:prstGeom prst="rect">
            <a:avLst/>
          </a:prstGeom>
          <a:noFill/>
        </p:spPr>
        <p:txBody>
          <a:bodyPr wrap="square" lIns="45720" tIns="18288" rIns="45720" bIns="18288" anchor="t">
            <a:spAutoFit/>
          </a:bodyPr>
          <a:lstStyle/>
          <a:p>
            <a:pPr algn="l"/>
            <a:r>
              <a:rPr sz="1100" b="1">
                <a:solidFill>
                  <a:srgbClr val="FBC04A"/>
                </a:solidFill>
                <a:latin typeface="Arial"/>
              </a:rPr>
              <a:t>STATE PERFORMANCE</a:t>
            </a:r>
          </a:p>
        </p:txBody>
      </p:sp>
      <p:sp>
        <p:nvSpPr>
          <p:cNvPr id="13" name="TextBox 12"/>
          <p:cNvSpPr txBox="1"/>
          <p:nvPr/>
        </p:nvSpPr>
        <p:spPr>
          <a:xfrm>
            <a:off x="7863840" y="2331720"/>
            <a:ext cx="3749039" cy="3657600"/>
          </a:xfrm>
          <a:prstGeom prst="rect">
            <a:avLst/>
          </a:prstGeom>
          <a:noFill/>
        </p:spPr>
        <p:txBody>
          <a:bodyPr wrap="square" lIns="45720" tIns="18288" rIns="45720" bIns="18288" anchor="t">
            <a:spAutoFit/>
          </a:bodyPr>
          <a:lstStyle/>
          <a:p>
            <a:pPr algn="l"/>
            <a:r>
              <a:rPr sz="1200" b="0">
                <a:solidFill>
                  <a:srgbClr val="1A1F36"/>
                </a:solidFill>
                <a:latin typeface="Arial"/>
              </a:rPr>
              <a:t>• FL #1: $1.14B revenue, 81K units sold.</a:t>
            </a:r>
          </a:p>
          <a:p>
            <a:pPr algn="l"/>
            <a:endParaRPr sz="1200" b="0">
              <a:solidFill>
                <a:srgbClr val="1A1F36"/>
              </a:solidFill>
              <a:latin typeface="Arial"/>
            </a:endParaRPr>
          </a:p>
          <a:p>
            <a:pPr algn="l"/>
            <a:r>
              <a:rPr sz="1200" b="0">
                <a:solidFill>
                  <a:srgbClr val="1A1F36"/>
                </a:solidFill>
                <a:latin typeface="Arial"/>
              </a:rPr>
              <a:t>• Top 3 states (FL, CA, PA) generate ~40% of total revenue.</a:t>
            </a:r>
          </a:p>
          <a:p>
            <a:pPr algn="l"/>
            <a:endParaRPr sz="1200" b="0">
              <a:solidFill>
                <a:srgbClr val="1A1F36"/>
              </a:solidFill>
              <a:latin typeface="Arial"/>
            </a:endParaRPr>
          </a:p>
          <a:p>
            <a:pPr algn="l"/>
            <a:r>
              <a:rPr sz="1200" b="0">
                <a:solidFill>
                  <a:srgbClr val="1A1F36"/>
                </a:solidFill>
                <a:latin typeface="Arial"/>
              </a:rPr>
              <a:t>• PA shows the highest avg price among top states ($15,898) — premium-mix opportunity.</a:t>
            </a:r>
          </a:p>
          <a:p>
            <a:pPr algn="l"/>
            <a:endParaRPr sz="1200" b="0">
              <a:solidFill>
                <a:srgbClr val="1A1F36"/>
              </a:solidFill>
              <a:latin typeface="Arial"/>
            </a:endParaRPr>
          </a:p>
          <a:p>
            <a:pPr algn="l"/>
            <a:r>
              <a:rPr sz="1200" b="0">
                <a:solidFill>
                  <a:srgbClr val="1A1F36"/>
                </a:solidFill>
                <a:latin typeface="Arial"/>
              </a:rPr>
              <a:t>• Long tail: 28 states each contribute &lt; 2% of revenue — review distribution costs.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73152"/>
            <a:ext cx="7315200" cy="365760"/>
          </a:xfrm>
          <a:prstGeom prst="rect">
            <a:avLst/>
          </a:prstGeom>
          <a:noFill/>
        </p:spPr>
        <p:txBody>
          <a:bodyPr wrap="square" lIns="45720" tIns="18288" rIns="45720" bIns="18288" anchor="t">
            <a:spAutoFit/>
          </a:bodyPr>
          <a:lstStyle/>
          <a:p>
            <a:pPr algn="l"/>
            <a:r>
              <a:rPr sz="1100" b="1">
                <a:solidFill>
                  <a:srgbClr val="CADCFC"/>
                </a:solidFill>
                <a:latin typeface="Arial"/>
              </a:rPr>
              <a:t>BRIGHT MOTORS  |  CAR SALES CASE STUDY</a:t>
            </a:r>
          </a:p>
        </p:txBody>
      </p:sp>
      <p:sp>
        <p:nvSpPr>
          <p:cNvPr id="5" name="TextBox 4"/>
          <p:cNvSpPr txBox="1"/>
          <p:nvPr/>
        </p:nvSpPr>
        <p:spPr>
          <a:xfrm>
            <a:off x="10332720" y="73152"/>
            <a:ext cx="1645920" cy="365760"/>
          </a:xfrm>
          <a:prstGeom prst="rect">
            <a:avLst/>
          </a:prstGeom>
          <a:noFill/>
        </p:spPr>
        <p:txBody>
          <a:bodyPr wrap="square" lIns="45720" tIns="18288" rIns="45720" bIns="18288" anchor="t">
            <a:spAutoFit/>
          </a:bodyPr>
          <a:lstStyle/>
          <a:p>
            <a:pPr algn="r"/>
            <a:r>
              <a:rPr sz="1100" b="1">
                <a:solidFill>
                  <a:srgbClr val="FBC04A"/>
                </a:solidFill>
                <a:latin typeface="Arial"/>
              </a:rPr>
              <a:t>2014–2015</a:t>
            </a:r>
          </a:p>
        </p:txBody>
      </p:sp>
      <p:sp>
        <p:nvSpPr>
          <p:cNvPr id="6" name="TextBox 5"/>
          <p:cNvSpPr txBox="1"/>
          <p:nvPr/>
        </p:nvSpPr>
        <p:spPr>
          <a:xfrm>
            <a:off x="457200" y="685800"/>
            <a:ext cx="11247120" cy="640080"/>
          </a:xfrm>
          <a:prstGeom prst="rect">
            <a:avLst/>
          </a:prstGeom>
          <a:noFill/>
        </p:spPr>
        <p:txBody>
          <a:bodyPr wrap="square" lIns="45720" tIns="18288" rIns="45720" bIns="18288" anchor="t">
            <a:spAutoFit/>
          </a:bodyPr>
          <a:lstStyle/>
          <a:p>
            <a:pPr algn="l"/>
            <a:r>
              <a:rPr sz="3000" b="1">
                <a:solidFill>
                  <a:srgbClr val="1E2761"/>
                </a:solidFill>
                <a:latin typeface="Arial"/>
              </a:rPr>
              <a:t>Sales over time</a:t>
            </a:r>
          </a:p>
        </p:txBody>
      </p:sp>
      <p:sp>
        <p:nvSpPr>
          <p:cNvPr id="7" name="TextBox 6"/>
          <p:cNvSpPr txBox="1"/>
          <p:nvPr/>
        </p:nvSpPr>
        <p:spPr>
          <a:xfrm>
            <a:off x="457200" y="1234440"/>
            <a:ext cx="11247120" cy="365760"/>
          </a:xfrm>
          <a:prstGeom prst="rect">
            <a:avLst/>
          </a:prstGeom>
          <a:noFill/>
        </p:spPr>
        <p:txBody>
          <a:bodyPr wrap="square" lIns="45720" tIns="18288" rIns="45720" bIns="18288" anchor="t">
            <a:spAutoFit/>
          </a:bodyPr>
          <a:lstStyle/>
          <a:p>
            <a:pPr algn="l"/>
            <a:r>
              <a:rPr sz="1400" b="0">
                <a:solidFill>
                  <a:srgbClr val="555A6B"/>
                </a:solidFill>
                <a:latin typeface="Arial"/>
              </a:rPr>
              <a:t>A clear seasonal peak in early 2015</a:t>
            </a:r>
          </a:p>
        </p:txBody>
      </p:sp>
      <p:sp>
        <p:nvSpPr>
          <p:cNvPr id="8" name="TextBox 7"/>
          <p:cNvSpPr txBox="1"/>
          <p:nvPr/>
        </p:nvSpPr>
        <p:spPr>
          <a:xfrm>
            <a:off x="457200" y="6537960"/>
            <a:ext cx="7315200" cy="274320"/>
          </a:xfrm>
          <a:prstGeom prst="rect">
            <a:avLst/>
          </a:prstGeom>
          <a:noFill/>
        </p:spPr>
        <p:txBody>
          <a:bodyPr wrap="square" lIns="45720" tIns="18288" rIns="45720" bIns="18288" anchor="t">
            <a:spAutoFit/>
          </a:bodyPr>
          <a:lstStyle/>
          <a:p>
            <a:pPr algn="l"/>
            <a:r>
              <a:rPr sz="900" b="0">
                <a:solidFill>
                  <a:srgbClr val="555A6B"/>
                </a:solidFill>
                <a:latin typeface="Arial"/>
              </a:rPr>
              <a:t>Source: Bright Motors car_sales_dataset (Databricks)</a:t>
            </a:r>
          </a:p>
        </p:txBody>
      </p:sp>
      <p:pic>
        <p:nvPicPr>
          <p:cNvPr id="9" name="Picture 8" descr="months.png"/>
          <p:cNvPicPr>
            <a:picLocks noChangeAspect="1"/>
          </p:cNvPicPr>
          <p:nvPr/>
        </p:nvPicPr>
        <p:blipFill>
          <a:blip r:embed="rId2"/>
          <a:stretch>
            <a:fillRect/>
          </a:stretch>
        </p:blipFill>
        <p:spPr>
          <a:xfrm>
            <a:off x="457200" y="1828800"/>
            <a:ext cx="7315200" cy="4194048"/>
          </a:xfrm>
          <a:prstGeom prst="rect">
            <a:avLst/>
          </a:prstGeom>
        </p:spPr>
      </p:pic>
      <p:sp>
        <p:nvSpPr>
          <p:cNvPr id="10" name="Rectangle 9"/>
          <p:cNvSpPr/>
          <p:nvPr/>
        </p:nvSpPr>
        <p:spPr>
          <a:xfrm>
            <a:off x="8046720" y="1828800"/>
            <a:ext cx="3657600" cy="42062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0" y="1965960"/>
            <a:ext cx="3383280" cy="365760"/>
          </a:xfrm>
          <a:prstGeom prst="rect">
            <a:avLst/>
          </a:prstGeom>
          <a:noFill/>
        </p:spPr>
        <p:txBody>
          <a:bodyPr wrap="square" lIns="45720" tIns="18288" rIns="45720" bIns="18288" anchor="t">
            <a:spAutoFit/>
          </a:bodyPr>
          <a:lstStyle/>
          <a:p>
            <a:pPr algn="l"/>
            <a:r>
              <a:rPr sz="1100" b="1">
                <a:solidFill>
                  <a:srgbClr val="FBC04A"/>
                </a:solidFill>
                <a:latin typeface="Arial"/>
              </a:rPr>
              <a:t>PEAK MONTH</a:t>
            </a:r>
          </a:p>
        </p:txBody>
      </p:sp>
      <p:sp>
        <p:nvSpPr>
          <p:cNvPr id="12" name="TextBox 11"/>
          <p:cNvSpPr txBox="1"/>
          <p:nvPr/>
        </p:nvSpPr>
        <p:spPr>
          <a:xfrm>
            <a:off x="8229600" y="2331720"/>
            <a:ext cx="3383280" cy="1005840"/>
          </a:xfrm>
          <a:prstGeom prst="rect">
            <a:avLst/>
          </a:prstGeom>
          <a:noFill/>
        </p:spPr>
        <p:txBody>
          <a:bodyPr wrap="square" lIns="45720" tIns="18288" rIns="45720" bIns="18288" anchor="t">
            <a:spAutoFit/>
          </a:bodyPr>
          <a:lstStyle/>
          <a:p>
            <a:pPr algn="l"/>
            <a:r>
              <a:rPr sz="3400" b="1">
                <a:solidFill>
                  <a:srgbClr val="FFFFFF"/>
                </a:solidFill>
                <a:latin typeface="Arial"/>
              </a:rPr>
              <a:t>Feb 2015</a:t>
            </a:r>
          </a:p>
        </p:txBody>
      </p:sp>
      <p:sp>
        <p:nvSpPr>
          <p:cNvPr id="13" name="TextBox 12"/>
          <p:cNvSpPr txBox="1"/>
          <p:nvPr/>
        </p:nvSpPr>
        <p:spPr>
          <a:xfrm>
            <a:off x="8229600" y="3200400"/>
            <a:ext cx="3383280" cy="365760"/>
          </a:xfrm>
          <a:prstGeom prst="rect">
            <a:avLst/>
          </a:prstGeom>
          <a:noFill/>
        </p:spPr>
        <p:txBody>
          <a:bodyPr wrap="square" lIns="45720" tIns="18288" rIns="45720" bIns="18288" anchor="t">
            <a:spAutoFit/>
          </a:bodyPr>
          <a:lstStyle/>
          <a:p>
            <a:pPr algn="l"/>
            <a:r>
              <a:rPr sz="1400" b="0">
                <a:solidFill>
                  <a:srgbClr val="CADCFC"/>
                </a:solidFill>
                <a:latin typeface="Arial"/>
              </a:rPr>
              <a:t>$2.18B revenue</a:t>
            </a:r>
          </a:p>
        </p:txBody>
      </p:sp>
      <p:sp>
        <p:nvSpPr>
          <p:cNvPr id="14" name="TextBox 13"/>
          <p:cNvSpPr txBox="1"/>
          <p:nvPr/>
        </p:nvSpPr>
        <p:spPr>
          <a:xfrm>
            <a:off x="8229600" y="3520440"/>
            <a:ext cx="3383280" cy="365760"/>
          </a:xfrm>
          <a:prstGeom prst="rect">
            <a:avLst/>
          </a:prstGeom>
          <a:noFill/>
        </p:spPr>
        <p:txBody>
          <a:bodyPr wrap="square" lIns="45720" tIns="18288" rIns="45720" bIns="18288" anchor="t">
            <a:spAutoFit/>
          </a:bodyPr>
          <a:lstStyle/>
          <a:p>
            <a:pPr algn="l"/>
            <a:r>
              <a:rPr sz="1200" b="0">
                <a:solidFill>
                  <a:srgbClr val="CADCFC"/>
                </a:solidFill>
                <a:latin typeface="Arial"/>
              </a:rPr>
              <a:t>159K units in a single month</a:t>
            </a:r>
          </a:p>
        </p:txBody>
      </p:sp>
      <p:sp>
        <p:nvSpPr>
          <p:cNvPr id="15" name="Rectangle 14"/>
          <p:cNvSpPr/>
          <p:nvPr/>
        </p:nvSpPr>
        <p:spPr>
          <a:xfrm>
            <a:off x="8229600" y="4069080"/>
            <a:ext cx="3291840" cy="36576"/>
          </a:xfrm>
          <a:prstGeom prst="rect">
            <a:avLst/>
          </a:prstGeom>
          <a:solidFill>
            <a:srgbClr val="FBC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0" y="4206240"/>
            <a:ext cx="3383280" cy="1828800"/>
          </a:xfrm>
          <a:prstGeom prst="rect">
            <a:avLst/>
          </a:prstGeom>
          <a:noFill/>
        </p:spPr>
        <p:txBody>
          <a:bodyPr wrap="square" lIns="45720" tIns="18288" rIns="45720" bIns="18288" anchor="t">
            <a:spAutoFit/>
          </a:bodyPr>
          <a:lstStyle/>
          <a:p>
            <a:pPr algn="l"/>
            <a:r>
              <a:rPr sz="1100" b="0">
                <a:solidFill>
                  <a:srgbClr val="CADCFC"/>
                </a:solidFill>
                <a:latin typeface="Arial"/>
              </a:rPr>
              <a:t>Jan–Feb 2015 alone delivered 54% of two-year revenue. Plan inventory and staffing to absorb this Q1 wave; investigate the Mar–Apr drop for stock-out or cannibalisation effects.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73152"/>
            <a:ext cx="7315200" cy="365760"/>
          </a:xfrm>
          <a:prstGeom prst="rect">
            <a:avLst/>
          </a:prstGeom>
          <a:noFill/>
        </p:spPr>
        <p:txBody>
          <a:bodyPr wrap="square" lIns="45720" tIns="18288" rIns="45720" bIns="18288" anchor="t">
            <a:spAutoFit/>
          </a:bodyPr>
          <a:lstStyle/>
          <a:p>
            <a:pPr algn="l"/>
            <a:r>
              <a:rPr sz="1100" b="1">
                <a:solidFill>
                  <a:srgbClr val="CADCFC"/>
                </a:solidFill>
                <a:latin typeface="Arial"/>
              </a:rPr>
              <a:t>BRIGHT MOTORS  |  CAR SALES CASE STUDY</a:t>
            </a:r>
          </a:p>
        </p:txBody>
      </p:sp>
      <p:sp>
        <p:nvSpPr>
          <p:cNvPr id="5" name="TextBox 4"/>
          <p:cNvSpPr txBox="1"/>
          <p:nvPr/>
        </p:nvSpPr>
        <p:spPr>
          <a:xfrm>
            <a:off x="10332720" y="73152"/>
            <a:ext cx="1645920" cy="365760"/>
          </a:xfrm>
          <a:prstGeom prst="rect">
            <a:avLst/>
          </a:prstGeom>
          <a:noFill/>
        </p:spPr>
        <p:txBody>
          <a:bodyPr wrap="square" lIns="45720" tIns="18288" rIns="45720" bIns="18288" anchor="t">
            <a:spAutoFit/>
          </a:bodyPr>
          <a:lstStyle/>
          <a:p>
            <a:pPr algn="r"/>
            <a:r>
              <a:rPr sz="1100" b="1">
                <a:solidFill>
                  <a:srgbClr val="FBC04A"/>
                </a:solidFill>
                <a:latin typeface="Arial"/>
              </a:rPr>
              <a:t>2014–2015</a:t>
            </a:r>
          </a:p>
        </p:txBody>
      </p:sp>
      <p:sp>
        <p:nvSpPr>
          <p:cNvPr id="6" name="TextBox 5"/>
          <p:cNvSpPr txBox="1"/>
          <p:nvPr/>
        </p:nvSpPr>
        <p:spPr>
          <a:xfrm>
            <a:off x="457200" y="685800"/>
            <a:ext cx="11247120" cy="640080"/>
          </a:xfrm>
          <a:prstGeom prst="rect">
            <a:avLst/>
          </a:prstGeom>
          <a:noFill/>
        </p:spPr>
        <p:txBody>
          <a:bodyPr wrap="square" lIns="45720" tIns="18288" rIns="45720" bIns="18288" anchor="t">
            <a:spAutoFit/>
          </a:bodyPr>
          <a:lstStyle/>
          <a:p>
            <a:pPr algn="l"/>
            <a:r>
              <a:rPr sz="3000" b="1">
                <a:solidFill>
                  <a:srgbClr val="1E2761"/>
                </a:solidFill>
                <a:latin typeface="Arial"/>
              </a:rPr>
              <a:t>Vehicle mix</a:t>
            </a:r>
          </a:p>
        </p:txBody>
      </p:sp>
      <p:sp>
        <p:nvSpPr>
          <p:cNvPr id="7" name="TextBox 6"/>
          <p:cNvSpPr txBox="1"/>
          <p:nvPr/>
        </p:nvSpPr>
        <p:spPr>
          <a:xfrm>
            <a:off x="457200" y="1234440"/>
            <a:ext cx="11247120" cy="365760"/>
          </a:xfrm>
          <a:prstGeom prst="rect">
            <a:avLst/>
          </a:prstGeom>
          <a:noFill/>
        </p:spPr>
        <p:txBody>
          <a:bodyPr wrap="square" lIns="45720" tIns="18288" rIns="45720" bIns="18288" anchor="t">
            <a:spAutoFit/>
          </a:bodyPr>
          <a:lstStyle/>
          <a:p>
            <a:pPr algn="l"/>
            <a:r>
              <a:rPr sz="1400" b="0">
                <a:solidFill>
                  <a:srgbClr val="555A6B"/>
                </a:solidFill>
                <a:latin typeface="Arial"/>
              </a:rPr>
              <a:t>Sedans and SUVs are two-thirds of the business</a:t>
            </a:r>
          </a:p>
        </p:txBody>
      </p:sp>
      <p:sp>
        <p:nvSpPr>
          <p:cNvPr id="8" name="TextBox 7"/>
          <p:cNvSpPr txBox="1"/>
          <p:nvPr/>
        </p:nvSpPr>
        <p:spPr>
          <a:xfrm>
            <a:off x="457200" y="6537960"/>
            <a:ext cx="7315200" cy="274320"/>
          </a:xfrm>
          <a:prstGeom prst="rect">
            <a:avLst/>
          </a:prstGeom>
          <a:noFill/>
        </p:spPr>
        <p:txBody>
          <a:bodyPr wrap="square" lIns="45720" tIns="18288" rIns="45720" bIns="18288" anchor="t">
            <a:spAutoFit/>
          </a:bodyPr>
          <a:lstStyle/>
          <a:p>
            <a:pPr algn="l"/>
            <a:r>
              <a:rPr sz="900" b="0">
                <a:solidFill>
                  <a:srgbClr val="555A6B"/>
                </a:solidFill>
                <a:latin typeface="Arial"/>
              </a:rPr>
              <a:t>Source: Bright Motors car_sales_dataset (Databricks)</a:t>
            </a:r>
          </a:p>
        </p:txBody>
      </p:sp>
      <p:pic>
        <p:nvPicPr>
          <p:cNvPr id="9" name="Picture 8" descr="body.png"/>
          <p:cNvPicPr>
            <a:picLocks noChangeAspect="1"/>
          </p:cNvPicPr>
          <p:nvPr/>
        </p:nvPicPr>
        <p:blipFill>
          <a:blip r:embed="rId2"/>
          <a:stretch>
            <a:fillRect/>
          </a:stretch>
        </p:blipFill>
        <p:spPr>
          <a:xfrm>
            <a:off x="457200" y="1737360"/>
            <a:ext cx="6035040" cy="5928732"/>
          </a:xfrm>
          <a:prstGeom prst="rect">
            <a:avLst/>
          </a:prstGeom>
        </p:spPr>
      </p:pic>
      <p:sp>
        <p:nvSpPr>
          <p:cNvPr id="10" name="Rectangle 9"/>
          <p:cNvSpPr/>
          <p:nvPr/>
        </p:nvSpPr>
        <p:spPr>
          <a:xfrm>
            <a:off x="6766560" y="1828800"/>
            <a:ext cx="4937760" cy="4297680"/>
          </a:xfrm>
          <a:prstGeom prst="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766560" y="1828800"/>
            <a:ext cx="73152" cy="4297680"/>
          </a:xfrm>
          <a:prstGeom prst="rect">
            <a:avLst/>
          </a:prstGeom>
          <a:solidFill>
            <a:srgbClr val="FBC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949440" y="1965960"/>
            <a:ext cx="4572000" cy="365760"/>
          </a:xfrm>
          <a:prstGeom prst="rect">
            <a:avLst/>
          </a:prstGeom>
          <a:noFill/>
        </p:spPr>
        <p:txBody>
          <a:bodyPr wrap="square" lIns="45720" tIns="18288" rIns="45720" bIns="18288" anchor="t">
            <a:spAutoFit/>
          </a:bodyPr>
          <a:lstStyle/>
          <a:p>
            <a:pPr algn="l"/>
            <a:r>
              <a:rPr sz="1100" b="1">
                <a:solidFill>
                  <a:srgbClr val="FBC04A"/>
                </a:solidFill>
                <a:latin typeface="Arial"/>
              </a:rPr>
              <a:t>MIX HIGHLIGHTS</a:t>
            </a:r>
          </a:p>
        </p:txBody>
      </p:sp>
      <p:sp>
        <p:nvSpPr>
          <p:cNvPr id="13" name="TextBox 12"/>
          <p:cNvSpPr txBox="1"/>
          <p:nvPr/>
        </p:nvSpPr>
        <p:spPr>
          <a:xfrm>
            <a:off x="6949440" y="2331720"/>
            <a:ext cx="4663440" cy="3749039"/>
          </a:xfrm>
          <a:prstGeom prst="rect">
            <a:avLst/>
          </a:prstGeom>
          <a:noFill/>
        </p:spPr>
        <p:txBody>
          <a:bodyPr wrap="square" lIns="45720" tIns="18288" rIns="45720" bIns="18288" anchor="t">
            <a:spAutoFit/>
          </a:bodyPr>
          <a:lstStyle/>
          <a:p>
            <a:pPr algn="l"/>
            <a:r>
              <a:rPr sz="1200" b="0">
                <a:solidFill>
                  <a:srgbClr val="1A1F36"/>
                </a:solidFill>
                <a:latin typeface="Arial"/>
              </a:rPr>
              <a:t>• Sedans lead with $2.82B revenue (38% share) — but lowest avg price ($10.3K).</a:t>
            </a:r>
          </a:p>
          <a:p>
            <a:pPr algn="l"/>
            <a:endParaRPr sz="1200" b="0">
              <a:solidFill>
                <a:srgbClr val="1A1F36"/>
              </a:solidFill>
              <a:latin typeface="Arial"/>
            </a:endParaRPr>
          </a:p>
          <a:p>
            <a:pPr algn="l"/>
            <a:r>
              <a:rPr sz="1200" b="0">
                <a:solidFill>
                  <a:srgbClr val="1A1F36"/>
                </a:solidFill>
                <a:latin typeface="Arial"/>
              </a:rPr>
              <a:t>• SUVs deliver $2.32B at a higher avg price ($14.7K) — best volume/value combo.</a:t>
            </a:r>
          </a:p>
          <a:p>
            <a:pPr algn="l"/>
            <a:endParaRPr sz="1200" b="0">
              <a:solidFill>
                <a:srgbClr val="1A1F36"/>
              </a:solidFill>
              <a:latin typeface="Arial"/>
            </a:endParaRPr>
          </a:p>
          <a:p>
            <a:pPr algn="l"/>
            <a:r>
              <a:rPr sz="1200" b="0">
                <a:solidFill>
                  <a:srgbClr val="1A1F36"/>
                </a:solidFill>
                <a:latin typeface="Arial"/>
              </a:rPr>
              <a:t>• Crew cab &amp; supercrew trucks outperform on avg price ($20K+) but on small volume.</a:t>
            </a:r>
          </a:p>
          <a:p>
            <a:pPr algn="l"/>
            <a:endParaRPr sz="1200" b="0">
              <a:solidFill>
                <a:srgbClr val="1A1F36"/>
              </a:solidFill>
              <a:latin typeface="Arial"/>
            </a:endParaRPr>
          </a:p>
          <a:p>
            <a:pPr algn="l"/>
            <a:r>
              <a:rPr sz="1200" b="0">
                <a:solidFill>
                  <a:srgbClr val="1A1F36"/>
                </a:solidFill>
                <a:latin typeface="Arial"/>
              </a:rPr>
              <a:t>• Minivans &amp; hatchbacks underperform on margin — review trim &amp; pricing.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73152"/>
            <a:ext cx="7315200" cy="365760"/>
          </a:xfrm>
          <a:prstGeom prst="rect">
            <a:avLst/>
          </a:prstGeom>
          <a:noFill/>
        </p:spPr>
        <p:txBody>
          <a:bodyPr wrap="square" lIns="45720" tIns="18288" rIns="45720" bIns="18288" anchor="t">
            <a:spAutoFit/>
          </a:bodyPr>
          <a:lstStyle/>
          <a:p>
            <a:pPr algn="l"/>
            <a:r>
              <a:rPr sz="1100" b="1">
                <a:solidFill>
                  <a:srgbClr val="CADCFC"/>
                </a:solidFill>
                <a:latin typeface="Arial"/>
              </a:rPr>
              <a:t>BRIGHT MOTORS  |  CAR SALES CASE STUDY</a:t>
            </a:r>
          </a:p>
        </p:txBody>
      </p:sp>
      <p:sp>
        <p:nvSpPr>
          <p:cNvPr id="5" name="TextBox 4"/>
          <p:cNvSpPr txBox="1"/>
          <p:nvPr/>
        </p:nvSpPr>
        <p:spPr>
          <a:xfrm>
            <a:off x="10332720" y="73152"/>
            <a:ext cx="1645920" cy="365760"/>
          </a:xfrm>
          <a:prstGeom prst="rect">
            <a:avLst/>
          </a:prstGeom>
          <a:noFill/>
        </p:spPr>
        <p:txBody>
          <a:bodyPr wrap="square" lIns="45720" tIns="18288" rIns="45720" bIns="18288" anchor="t">
            <a:spAutoFit/>
          </a:bodyPr>
          <a:lstStyle/>
          <a:p>
            <a:pPr algn="r"/>
            <a:r>
              <a:rPr sz="1100" b="1">
                <a:solidFill>
                  <a:srgbClr val="FBC04A"/>
                </a:solidFill>
                <a:latin typeface="Arial"/>
              </a:rPr>
              <a:t>2014–2015</a:t>
            </a:r>
          </a:p>
        </p:txBody>
      </p:sp>
      <p:sp>
        <p:nvSpPr>
          <p:cNvPr id="6" name="TextBox 5"/>
          <p:cNvSpPr txBox="1"/>
          <p:nvPr/>
        </p:nvSpPr>
        <p:spPr>
          <a:xfrm>
            <a:off x="457200" y="685800"/>
            <a:ext cx="11247120" cy="640080"/>
          </a:xfrm>
          <a:prstGeom prst="rect">
            <a:avLst/>
          </a:prstGeom>
          <a:noFill/>
        </p:spPr>
        <p:txBody>
          <a:bodyPr wrap="square" lIns="45720" tIns="18288" rIns="45720" bIns="18288" anchor="t">
            <a:spAutoFit/>
          </a:bodyPr>
          <a:lstStyle/>
          <a:p>
            <a:pPr algn="l"/>
            <a:r>
              <a:rPr sz="3000" b="1">
                <a:solidFill>
                  <a:srgbClr val="1E2761"/>
                </a:solidFill>
                <a:latin typeface="Arial"/>
              </a:rPr>
              <a:t>Color preference</a:t>
            </a:r>
          </a:p>
        </p:txBody>
      </p:sp>
      <p:sp>
        <p:nvSpPr>
          <p:cNvPr id="7" name="TextBox 6"/>
          <p:cNvSpPr txBox="1"/>
          <p:nvPr/>
        </p:nvSpPr>
        <p:spPr>
          <a:xfrm>
            <a:off x="457200" y="1234440"/>
            <a:ext cx="11247120" cy="365760"/>
          </a:xfrm>
          <a:prstGeom prst="rect">
            <a:avLst/>
          </a:prstGeom>
          <a:noFill/>
        </p:spPr>
        <p:txBody>
          <a:bodyPr wrap="square" lIns="45720" tIns="18288" rIns="45720" bIns="18288" anchor="t">
            <a:spAutoFit/>
          </a:bodyPr>
          <a:lstStyle/>
          <a:p>
            <a:pPr algn="l"/>
            <a:r>
              <a:rPr sz="1400" b="0">
                <a:solidFill>
                  <a:srgbClr val="555A6B"/>
                </a:solidFill>
                <a:latin typeface="Arial"/>
              </a:rPr>
              <a:t>Black, white and grey rule the lot</a:t>
            </a:r>
          </a:p>
        </p:txBody>
      </p:sp>
      <p:sp>
        <p:nvSpPr>
          <p:cNvPr id="8" name="TextBox 7"/>
          <p:cNvSpPr txBox="1"/>
          <p:nvPr/>
        </p:nvSpPr>
        <p:spPr>
          <a:xfrm>
            <a:off x="457200" y="6537960"/>
            <a:ext cx="7315200" cy="274320"/>
          </a:xfrm>
          <a:prstGeom prst="rect">
            <a:avLst/>
          </a:prstGeom>
          <a:noFill/>
        </p:spPr>
        <p:txBody>
          <a:bodyPr wrap="square" lIns="45720" tIns="18288" rIns="45720" bIns="18288" anchor="t">
            <a:spAutoFit/>
          </a:bodyPr>
          <a:lstStyle/>
          <a:p>
            <a:pPr algn="l"/>
            <a:r>
              <a:rPr sz="900" b="0">
                <a:solidFill>
                  <a:srgbClr val="555A6B"/>
                </a:solidFill>
                <a:latin typeface="Arial"/>
              </a:rPr>
              <a:t>Source: Bright Motors car_sales_dataset (Databricks)</a:t>
            </a:r>
          </a:p>
        </p:txBody>
      </p:sp>
      <p:pic>
        <p:nvPicPr>
          <p:cNvPr id="9" name="Picture 8" descr="colors.png"/>
          <p:cNvPicPr>
            <a:picLocks noChangeAspect="1"/>
          </p:cNvPicPr>
          <p:nvPr/>
        </p:nvPicPr>
        <p:blipFill>
          <a:blip r:embed="rId2"/>
          <a:stretch>
            <a:fillRect/>
          </a:stretch>
        </p:blipFill>
        <p:spPr>
          <a:xfrm>
            <a:off x="457200" y="1828800"/>
            <a:ext cx="6949440" cy="3811181"/>
          </a:xfrm>
          <a:prstGeom prst="rect">
            <a:avLst/>
          </a:prstGeom>
        </p:spPr>
      </p:pic>
      <p:sp>
        <p:nvSpPr>
          <p:cNvPr id="10" name="Rectangle 9"/>
          <p:cNvSpPr/>
          <p:nvPr/>
        </p:nvSpPr>
        <p:spPr>
          <a:xfrm>
            <a:off x="7680960" y="1828800"/>
            <a:ext cx="4023360" cy="4206240"/>
          </a:xfrm>
          <a:prstGeom prst="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680960" y="1828800"/>
            <a:ext cx="73152" cy="4206240"/>
          </a:xfrm>
          <a:prstGeom prst="rect">
            <a:avLst/>
          </a:prstGeom>
          <a:solidFill>
            <a:srgbClr val="FBC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863840" y="1965960"/>
            <a:ext cx="3657600" cy="365760"/>
          </a:xfrm>
          <a:prstGeom prst="rect">
            <a:avLst/>
          </a:prstGeom>
          <a:noFill/>
        </p:spPr>
        <p:txBody>
          <a:bodyPr wrap="square" lIns="45720" tIns="18288" rIns="45720" bIns="18288" anchor="t">
            <a:spAutoFit/>
          </a:bodyPr>
          <a:lstStyle/>
          <a:p>
            <a:pPr algn="l"/>
            <a:r>
              <a:rPr sz="1100" b="1">
                <a:solidFill>
                  <a:srgbClr val="FBC04A"/>
                </a:solidFill>
                <a:latin typeface="Arial"/>
              </a:rPr>
              <a:t>INVENTORY IMPLICATION</a:t>
            </a:r>
          </a:p>
        </p:txBody>
      </p:sp>
      <p:sp>
        <p:nvSpPr>
          <p:cNvPr id="13" name="TextBox 12"/>
          <p:cNvSpPr txBox="1"/>
          <p:nvPr/>
        </p:nvSpPr>
        <p:spPr>
          <a:xfrm>
            <a:off x="7863840" y="2331720"/>
            <a:ext cx="3749039" cy="3657600"/>
          </a:xfrm>
          <a:prstGeom prst="rect">
            <a:avLst/>
          </a:prstGeom>
          <a:noFill/>
        </p:spPr>
        <p:txBody>
          <a:bodyPr wrap="square" lIns="45720" tIns="18288" rIns="45720" bIns="18288" anchor="t">
            <a:spAutoFit/>
          </a:bodyPr>
          <a:lstStyle/>
          <a:p>
            <a:pPr algn="l"/>
            <a:r>
              <a:rPr sz="1200" b="0">
                <a:solidFill>
                  <a:srgbClr val="1A1F36"/>
                </a:solidFill>
                <a:latin typeface="Arial"/>
              </a:rPr>
              <a:t>• Black ($1.70B) and white ($1.55B) together = 43% of revenue.</a:t>
            </a:r>
          </a:p>
          <a:p>
            <a:pPr algn="l"/>
            <a:endParaRPr sz="1200" b="0">
              <a:solidFill>
                <a:srgbClr val="1A1F36"/>
              </a:solidFill>
              <a:latin typeface="Arial"/>
            </a:endParaRPr>
          </a:p>
          <a:p>
            <a:pPr algn="l"/>
            <a:r>
              <a:rPr sz="1200" b="0">
                <a:solidFill>
                  <a:srgbClr val="1A1F36"/>
                </a:solidFill>
                <a:latin typeface="Arial"/>
              </a:rPr>
              <a:t>• Top 4 neutral colors (black/white/grey/silver) = 72% of revenue.</a:t>
            </a:r>
          </a:p>
          <a:p>
            <a:pPr algn="l"/>
            <a:endParaRPr sz="1200" b="0">
              <a:solidFill>
                <a:srgbClr val="1A1F36"/>
              </a:solidFill>
              <a:latin typeface="Arial"/>
            </a:endParaRPr>
          </a:p>
          <a:p>
            <a:pPr algn="l"/>
            <a:r>
              <a:rPr sz="1200" b="0">
                <a:solidFill>
                  <a:srgbClr val="1A1F36"/>
                </a:solidFill>
                <a:latin typeface="Arial"/>
              </a:rPr>
              <a:t>• Bold colors (red, orange, purple) sell in low volume — price as accents, not core stock.</a:t>
            </a:r>
          </a:p>
          <a:p>
            <a:pPr algn="l"/>
            <a:endParaRPr sz="1200" b="0">
              <a:solidFill>
                <a:srgbClr val="1A1F36"/>
              </a:solidFill>
              <a:latin typeface="Arial"/>
            </a:endParaRPr>
          </a:p>
          <a:p>
            <a:pPr algn="l"/>
            <a:r>
              <a:rPr sz="1200" b="0">
                <a:solidFill>
                  <a:srgbClr val="1A1F36"/>
                </a:solidFill>
                <a:latin typeface="Arial"/>
              </a:rPr>
              <a:t>• Action: anchor inventory on the neutral 4, treat the rest as long-tail orders.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73152"/>
            <a:ext cx="7315200" cy="365760"/>
          </a:xfrm>
          <a:prstGeom prst="rect">
            <a:avLst/>
          </a:prstGeom>
          <a:noFill/>
        </p:spPr>
        <p:txBody>
          <a:bodyPr wrap="square" lIns="45720" tIns="18288" rIns="45720" bIns="18288" anchor="t">
            <a:spAutoFit/>
          </a:bodyPr>
          <a:lstStyle/>
          <a:p>
            <a:pPr algn="l"/>
            <a:r>
              <a:rPr sz="1100" b="1">
                <a:solidFill>
                  <a:srgbClr val="CADCFC"/>
                </a:solidFill>
                <a:latin typeface="Arial"/>
              </a:rPr>
              <a:t>BRIGHT MOTORS  |  CAR SALES CASE STUDY</a:t>
            </a:r>
          </a:p>
        </p:txBody>
      </p:sp>
      <p:sp>
        <p:nvSpPr>
          <p:cNvPr id="5" name="TextBox 4"/>
          <p:cNvSpPr txBox="1"/>
          <p:nvPr/>
        </p:nvSpPr>
        <p:spPr>
          <a:xfrm>
            <a:off x="10332720" y="73152"/>
            <a:ext cx="1645920" cy="365760"/>
          </a:xfrm>
          <a:prstGeom prst="rect">
            <a:avLst/>
          </a:prstGeom>
          <a:noFill/>
        </p:spPr>
        <p:txBody>
          <a:bodyPr wrap="square" lIns="45720" tIns="18288" rIns="45720" bIns="18288" anchor="t">
            <a:spAutoFit/>
          </a:bodyPr>
          <a:lstStyle/>
          <a:p>
            <a:pPr algn="r"/>
            <a:r>
              <a:rPr sz="1100" b="1">
                <a:solidFill>
                  <a:srgbClr val="FBC04A"/>
                </a:solidFill>
                <a:latin typeface="Arial"/>
              </a:rPr>
              <a:t>2014–2015</a:t>
            </a:r>
          </a:p>
        </p:txBody>
      </p:sp>
      <p:sp>
        <p:nvSpPr>
          <p:cNvPr id="6" name="TextBox 5"/>
          <p:cNvSpPr txBox="1"/>
          <p:nvPr/>
        </p:nvSpPr>
        <p:spPr>
          <a:xfrm>
            <a:off x="457200" y="685800"/>
            <a:ext cx="11247120" cy="640080"/>
          </a:xfrm>
          <a:prstGeom prst="rect">
            <a:avLst/>
          </a:prstGeom>
          <a:noFill/>
        </p:spPr>
        <p:txBody>
          <a:bodyPr wrap="square" lIns="45720" tIns="18288" rIns="45720" bIns="18288" anchor="t">
            <a:spAutoFit/>
          </a:bodyPr>
          <a:lstStyle/>
          <a:p>
            <a:pPr algn="l"/>
            <a:r>
              <a:rPr sz="3000" b="1">
                <a:solidFill>
                  <a:srgbClr val="1E2761"/>
                </a:solidFill>
                <a:latin typeface="Arial"/>
              </a:rPr>
              <a:t>Profitability tiers</a:t>
            </a:r>
          </a:p>
        </p:txBody>
      </p:sp>
      <p:sp>
        <p:nvSpPr>
          <p:cNvPr id="7" name="TextBox 6"/>
          <p:cNvSpPr txBox="1"/>
          <p:nvPr/>
        </p:nvSpPr>
        <p:spPr>
          <a:xfrm>
            <a:off x="457200" y="1234440"/>
            <a:ext cx="11247120" cy="365760"/>
          </a:xfrm>
          <a:prstGeom prst="rect">
            <a:avLst/>
          </a:prstGeom>
          <a:noFill/>
        </p:spPr>
        <p:txBody>
          <a:bodyPr wrap="square" lIns="45720" tIns="18288" rIns="45720" bIns="18288" anchor="t">
            <a:spAutoFit/>
          </a:bodyPr>
          <a:lstStyle/>
          <a:p>
            <a:pPr algn="l"/>
            <a:r>
              <a:rPr sz="1400" b="0">
                <a:solidFill>
                  <a:srgbClr val="555A6B"/>
                </a:solidFill>
                <a:latin typeface="Arial"/>
              </a:rPr>
              <a:t>Most volume sits in the Low-Margin tier — our biggest lever</a:t>
            </a:r>
          </a:p>
        </p:txBody>
      </p:sp>
      <p:sp>
        <p:nvSpPr>
          <p:cNvPr id="8" name="TextBox 7"/>
          <p:cNvSpPr txBox="1"/>
          <p:nvPr/>
        </p:nvSpPr>
        <p:spPr>
          <a:xfrm>
            <a:off x="457200" y="6537960"/>
            <a:ext cx="7315200" cy="274320"/>
          </a:xfrm>
          <a:prstGeom prst="rect">
            <a:avLst/>
          </a:prstGeom>
          <a:noFill/>
        </p:spPr>
        <p:txBody>
          <a:bodyPr wrap="square" lIns="45720" tIns="18288" rIns="45720" bIns="18288" anchor="t">
            <a:spAutoFit/>
          </a:bodyPr>
          <a:lstStyle/>
          <a:p>
            <a:pPr algn="l"/>
            <a:r>
              <a:rPr sz="900" b="0">
                <a:solidFill>
                  <a:srgbClr val="555A6B"/>
                </a:solidFill>
                <a:latin typeface="Arial"/>
              </a:rPr>
              <a:t>Source: Bright Motors car_sales_dataset (Databricks)</a:t>
            </a:r>
          </a:p>
        </p:txBody>
      </p:sp>
      <p:pic>
        <p:nvPicPr>
          <p:cNvPr id="9" name="Picture 8" descr="tiers.png"/>
          <p:cNvPicPr>
            <a:picLocks noChangeAspect="1"/>
          </p:cNvPicPr>
          <p:nvPr/>
        </p:nvPicPr>
        <p:blipFill>
          <a:blip r:embed="rId2"/>
          <a:stretch>
            <a:fillRect/>
          </a:stretch>
        </p:blipFill>
        <p:spPr>
          <a:xfrm>
            <a:off x="457200" y="1828800"/>
            <a:ext cx="7680960" cy="3794869"/>
          </a:xfrm>
          <a:prstGeom prst="rect">
            <a:avLst/>
          </a:prstGeom>
        </p:spPr>
      </p:pic>
      <p:sp>
        <p:nvSpPr>
          <p:cNvPr id="10" name="Rectangle 9"/>
          <p:cNvSpPr/>
          <p:nvPr/>
        </p:nvSpPr>
        <p:spPr>
          <a:xfrm>
            <a:off x="8412480" y="1828800"/>
            <a:ext cx="3291840" cy="42062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0" y="1965960"/>
            <a:ext cx="3017520" cy="365760"/>
          </a:xfrm>
          <a:prstGeom prst="rect">
            <a:avLst/>
          </a:prstGeom>
          <a:noFill/>
        </p:spPr>
        <p:txBody>
          <a:bodyPr wrap="square" lIns="45720" tIns="18288" rIns="45720" bIns="18288" anchor="t">
            <a:spAutoFit/>
          </a:bodyPr>
          <a:lstStyle/>
          <a:p>
            <a:pPr algn="l"/>
            <a:r>
              <a:rPr sz="1100" b="1">
                <a:solidFill>
                  <a:srgbClr val="FBC04A"/>
                </a:solidFill>
                <a:latin typeface="Arial"/>
              </a:rPr>
              <a:t>THE BIG INSIGHT</a:t>
            </a:r>
          </a:p>
        </p:txBody>
      </p:sp>
      <p:sp>
        <p:nvSpPr>
          <p:cNvPr id="12" name="TextBox 11"/>
          <p:cNvSpPr txBox="1"/>
          <p:nvPr/>
        </p:nvSpPr>
        <p:spPr>
          <a:xfrm>
            <a:off x="8595360" y="2331720"/>
            <a:ext cx="3017520" cy="914400"/>
          </a:xfrm>
          <a:prstGeom prst="rect">
            <a:avLst/>
          </a:prstGeom>
          <a:noFill/>
        </p:spPr>
        <p:txBody>
          <a:bodyPr wrap="square" lIns="45720" tIns="18288" rIns="45720" bIns="18288" anchor="t">
            <a:spAutoFit/>
          </a:bodyPr>
          <a:lstStyle/>
          <a:p>
            <a:pPr algn="l"/>
            <a:r>
              <a:rPr sz="4400" b="1">
                <a:solidFill>
                  <a:srgbClr val="FFFFFF"/>
                </a:solidFill>
                <a:latin typeface="Arial"/>
              </a:rPr>
              <a:t>82%</a:t>
            </a:r>
          </a:p>
        </p:txBody>
      </p:sp>
      <p:sp>
        <p:nvSpPr>
          <p:cNvPr id="13" name="TextBox 12"/>
          <p:cNvSpPr txBox="1"/>
          <p:nvPr/>
        </p:nvSpPr>
        <p:spPr>
          <a:xfrm>
            <a:off x="8595360" y="3291840"/>
            <a:ext cx="3017520" cy="365760"/>
          </a:xfrm>
          <a:prstGeom prst="rect">
            <a:avLst/>
          </a:prstGeom>
          <a:noFill/>
        </p:spPr>
        <p:txBody>
          <a:bodyPr wrap="square" lIns="45720" tIns="18288" rIns="45720" bIns="18288" anchor="t">
            <a:spAutoFit/>
          </a:bodyPr>
          <a:lstStyle/>
          <a:p>
            <a:pPr algn="l"/>
            <a:r>
              <a:rPr sz="1100" b="0">
                <a:solidFill>
                  <a:srgbClr val="CADCFC"/>
                </a:solidFill>
                <a:latin typeface="Arial"/>
              </a:rPr>
              <a:t>of units sold land in the</a:t>
            </a:r>
          </a:p>
        </p:txBody>
      </p:sp>
      <p:sp>
        <p:nvSpPr>
          <p:cNvPr id="14" name="TextBox 13"/>
          <p:cNvSpPr txBox="1"/>
          <p:nvPr/>
        </p:nvSpPr>
        <p:spPr>
          <a:xfrm>
            <a:off x="8595360" y="3520440"/>
            <a:ext cx="3017520" cy="365760"/>
          </a:xfrm>
          <a:prstGeom prst="rect">
            <a:avLst/>
          </a:prstGeom>
          <a:noFill/>
        </p:spPr>
        <p:txBody>
          <a:bodyPr wrap="square" lIns="45720" tIns="18288" rIns="45720" bIns="18288" anchor="t">
            <a:spAutoFit/>
          </a:bodyPr>
          <a:lstStyle/>
          <a:p>
            <a:pPr algn="l"/>
            <a:r>
              <a:rPr sz="1100" b="0">
                <a:solidFill>
                  <a:srgbClr val="CADCFC"/>
                </a:solidFill>
                <a:latin typeface="Arial"/>
              </a:rPr>
              <a:t>Low-Margin tier (-10% avg).</a:t>
            </a:r>
          </a:p>
        </p:txBody>
      </p:sp>
      <p:sp>
        <p:nvSpPr>
          <p:cNvPr id="15" name="Rectangle 14"/>
          <p:cNvSpPr/>
          <p:nvPr/>
        </p:nvSpPr>
        <p:spPr>
          <a:xfrm>
            <a:off x="8595360" y="4023360"/>
            <a:ext cx="2743200" cy="36576"/>
          </a:xfrm>
          <a:prstGeom prst="rect">
            <a:avLst/>
          </a:prstGeom>
          <a:solidFill>
            <a:srgbClr val="FBC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95360" y="4160520"/>
            <a:ext cx="3017520" cy="1828800"/>
          </a:xfrm>
          <a:prstGeom prst="rect">
            <a:avLst/>
          </a:prstGeom>
          <a:noFill/>
        </p:spPr>
        <p:txBody>
          <a:bodyPr wrap="square" lIns="45720" tIns="18288" rIns="45720" bIns="18288" anchor="t">
            <a:spAutoFit/>
          </a:bodyPr>
          <a:lstStyle/>
          <a:p>
            <a:pPr algn="l"/>
            <a:r>
              <a:rPr sz="1100" b="0">
                <a:solidFill>
                  <a:srgbClr val="CADCFC"/>
                </a:solidFill>
                <a:latin typeface="Arial"/>
              </a:rPr>
              <a:t>Shifting just 5% of these units up to Medium tier would add ~$50M in incremental margin, with no extra volume required.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73152"/>
            <a:ext cx="7315200" cy="365760"/>
          </a:xfrm>
          <a:prstGeom prst="rect">
            <a:avLst/>
          </a:prstGeom>
          <a:noFill/>
        </p:spPr>
        <p:txBody>
          <a:bodyPr wrap="square" lIns="45720" tIns="18288" rIns="45720" bIns="18288" anchor="t">
            <a:spAutoFit/>
          </a:bodyPr>
          <a:lstStyle/>
          <a:p>
            <a:pPr algn="l"/>
            <a:r>
              <a:rPr sz="1100" b="1">
                <a:solidFill>
                  <a:srgbClr val="CADCFC"/>
                </a:solidFill>
                <a:latin typeface="Arial"/>
              </a:rPr>
              <a:t>BRIGHT MOTORS  |  CAR SALES CASE STUDY</a:t>
            </a:r>
          </a:p>
        </p:txBody>
      </p:sp>
      <p:sp>
        <p:nvSpPr>
          <p:cNvPr id="5" name="TextBox 4"/>
          <p:cNvSpPr txBox="1"/>
          <p:nvPr/>
        </p:nvSpPr>
        <p:spPr>
          <a:xfrm>
            <a:off x="10332720" y="73152"/>
            <a:ext cx="1645920" cy="365760"/>
          </a:xfrm>
          <a:prstGeom prst="rect">
            <a:avLst/>
          </a:prstGeom>
          <a:noFill/>
        </p:spPr>
        <p:txBody>
          <a:bodyPr wrap="square" lIns="45720" tIns="18288" rIns="45720" bIns="18288" anchor="t">
            <a:spAutoFit/>
          </a:bodyPr>
          <a:lstStyle/>
          <a:p>
            <a:pPr algn="r"/>
            <a:r>
              <a:rPr sz="1100" b="1">
                <a:solidFill>
                  <a:srgbClr val="FBC04A"/>
                </a:solidFill>
                <a:latin typeface="Arial"/>
              </a:rPr>
              <a:t>2014–2015</a:t>
            </a:r>
          </a:p>
        </p:txBody>
      </p:sp>
      <p:sp>
        <p:nvSpPr>
          <p:cNvPr id="6" name="TextBox 5"/>
          <p:cNvSpPr txBox="1"/>
          <p:nvPr/>
        </p:nvSpPr>
        <p:spPr>
          <a:xfrm>
            <a:off x="457200" y="685800"/>
            <a:ext cx="11247120" cy="640080"/>
          </a:xfrm>
          <a:prstGeom prst="rect">
            <a:avLst/>
          </a:prstGeom>
          <a:noFill/>
        </p:spPr>
        <p:txBody>
          <a:bodyPr wrap="square" lIns="45720" tIns="18288" rIns="45720" bIns="18288" anchor="t">
            <a:spAutoFit/>
          </a:bodyPr>
          <a:lstStyle/>
          <a:p>
            <a:pPr algn="l"/>
            <a:r>
              <a:rPr sz="3000" b="1">
                <a:solidFill>
                  <a:srgbClr val="1E2761"/>
                </a:solidFill>
                <a:latin typeface="Arial"/>
              </a:rPr>
              <a:t>Recommendations</a:t>
            </a:r>
          </a:p>
        </p:txBody>
      </p:sp>
      <p:sp>
        <p:nvSpPr>
          <p:cNvPr id="7" name="TextBox 6"/>
          <p:cNvSpPr txBox="1"/>
          <p:nvPr/>
        </p:nvSpPr>
        <p:spPr>
          <a:xfrm>
            <a:off x="457200" y="1234440"/>
            <a:ext cx="11247120" cy="365760"/>
          </a:xfrm>
          <a:prstGeom prst="rect">
            <a:avLst/>
          </a:prstGeom>
          <a:noFill/>
        </p:spPr>
        <p:txBody>
          <a:bodyPr wrap="square" lIns="45720" tIns="18288" rIns="45720" bIns="18288" anchor="t">
            <a:spAutoFit/>
          </a:bodyPr>
          <a:lstStyle/>
          <a:p>
            <a:pPr algn="l"/>
            <a:r>
              <a:rPr sz="1400" b="0">
                <a:solidFill>
                  <a:srgbClr val="555A6B"/>
                </a:solidFill>
                <a:latin typeface="Arial"/>
              </a:rPr>
              <a:t>Five moves for the next planning cycle</a:t>
            </a:r>
          </a:p>
        </p:txBody>
      </p:sp>
      <p:sp>
        <p:nvSpPr>
          <p:cNvPr id="8" name="TextBox 7"/>
          <p:cNvSpPr txBox="1"/>
          <p:nvPr/>
        </p:nvSpPr>
        <p:spPr>
          <a:xfrm>
            <a:off x="457200" y="6537960"/>
            <a:ext cx="7315200" cy="274320"/>
          </a:xfrm>
          <a:prstGeom prst="rect">
            <a:avLst/>
          </a:prstGeom>
          <a:noFill/>
        </p:spPr>
        <p:txBody>
          <a:bodyPr wrap="square" lIns="45720" tIns="18288" rIns="45720" bIns="18288" anchor="t">
            <a:spAutoFit/>
          </a:bodyPr>
          <a:lstStyle/>
          <a:p>
            <a:pPr algn="l"/>
            <a:r>
              <a:rPr sz="900" b="0">
                <a:solidFill>
                  <a:srgbClr val="555A6B"/>
                </a:solidFill>
                <a:latin typeface="Arial"/>
              </a:rPr>
              <a:t>Source: Bright Motors car_sales_dataset (Databricks)</a:t>
            </a:r>
          </a:p>
        </p:txBody>
      </p:sp>
      <p:sp>
        <p:nvSpPr>
          <p:cNvPr id="9" name="Rectangle 8"/>
          <p:cNvSpPr/>
          <p:nvPr/>
        </p:nvSpPr>
        <p:spPr>
          <a:xfrm>
            <a:off x="548640" y="1828800"/>
            <a:ext cx="11064240" cy="822960"/>
          </a:xfrm>
          <a:prstGeom prst="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1828800"/>
            <a:ext cx="109728" cy="822960"/>
          </a:xfrm>
          <a:prstGeom prst="rect">
            <a:avLst/>
          </a:prstGeom>
          <a:solidFill>
            <a:srgbClr val="FBC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68680" y="1993392"/>
            <a:ext cx="502920"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 y="1993392"/>
            <a:ext cx="502920" cy="502920"/>
          </a:xfrm>
          <a:prstGeom prst="rect">
            <a:avLst/>
          </a:prstGeom>
          <a:noFill/>
        </p:spPr>
        <p:txBody>
          <a:bodyPr wrap="square" lIns="45720" tIns="18288" rIns="45720" bIns="18288" anchor="ctr">
            <a:spAutoFit/>
          </a:bodyPr>
          <a:lstStyle/>
          <a:p>
            <a:pPr algn="ctr"/>
            <a:r>
              <a:rPr sz="1800" b="1">
                <a:solidFill>
                  <a:srgbClr val="FFFFFF"/>
                </a:solidFill>
                <a:latin typeface="Arial"/>
              </a:rPr>
              <a:t>1</a:t>
            </a:r>
          </a:p>
        </p:txBody>
      </p:sp>
      <p:sp>
        <p:nvSpPr>
          <p:cNvPr id="13" name="TextBox 12"/>
          <p:cNvSpPr txBox="1"/>
          <p:nvPr/>
        </p:nvSpPr>
        <p:spPr>
          <a:xfrm>
            <a:off x="1554480" y="1920240"/>
            <a:ext cx="9875520" cy="365760"/>
          </a:xfrm>
          <a:prstGeom prst="rect">
            <a:avLst/>
          </a:prstGeom>
          <a:noFill/>
        </p:spPr>
        <p:txBody>
          <a:bodyPr wrap="square" lIns="45720" tIns="18288" rIns="45720" bIns="18288" anchor="t">
            <a:spAutoFit/>
          </a:bodyPr>
          <a:lstStyle/>
          <a:p>
            <a:pPr algn="l"/>
            <a:r>
              <a:rPr sz="1500" b="1">
                <a:solidFill>
                  <a:srgbClr val="1E2761"/>
                </a:solidFill>
                <a:latin typeface="Arial"/>
              </a:rPr>
              <a:t>Double-down on top brands</a:t>
            </a:r>
          </a:p>
        </p:txBody>
      </p:sp>
      <p:sp>
        <p:nvSpPr>
          <p:cNvPr id="14" name="TextBox 13"/>
          <p:cNvSpPr txBox="1"/>
          <p:nvPr/>
        </p:nvSpPr>
        <p:spPr>
          <a:xfrm>
            <a:off x="1554480" y="2240280"/>
            <a:ext cx="9875520" cy="457200"/>
          </a:xfrm>
          <a:prstGeom prst="rect">
            <a:avLst/>
          </a:prstGeom>
          <a:noFill/>
        </p:spPr>
        <p:txBody>
          <a:bodyPr wrap="square" lIns="45720" tIns="18288" rIns="45720" bIns="18288" anchor="t">
            <a:spAutoFit/>
          </a:bodyPr>
          <a:lstStyle/>
          <a:p>
            <a:pPr algn="l"/>
            <a:r>
              <a:rPr sz="1100" b="0">
                <a:solidFill>
                  <a:srgbClr val="555A6B"/>
                </a:solidFill>
                <a:latin typeface="Arial"/>
              </a:rPr>
              <a:t>Secure inventory commitments with Ford, Chevy, Nissan, Toyota and BMW — they drive ~50% of revenue.</a:t>
            </a:r>
          </a:p>
        </p:txBody>
      </p:sp>
      <p:sp>
        <p:nvSpPr>
          <p:cNvPr id="15" name="Rectangle 14"/>
          <p:cNvSpPr/>
          <p:nvPr/>
        </p:nvSpPr>
        <p:spPr>
          <a:xfrm>
            <a:off x="548640" y="2724912"/>
            <a:ext cx="11064240" cy="822960"/>
          </a:xfrm>
          <a:prstGeom prst="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48640" y="2724912"/>
            <a:ext cx="109728" cy="822960"/>
          </a:xfrm>
          <a:prstGeom prst="rect">
            <a:avLst/>
          </a:prstGeom>
          <a:solidFill>
            <a:srgbClr val="FBC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68680" y="2889504"/>
            <a:ext cx="502920"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 y="2889504"/>
            <a:ext cx="502920" cy="502920"/>
          </a:xfrm>
          <a:prstGeom prst="rect">
            <a:avLst/>
          </a:prstGeom>
          <a:noFill/>
        </p:spPr>
        <p:txBody>
          <a:bodyPr wrap="square" lIns="45720" tIns="18288" rIns="45720" bIns="18288" anchor="ctr">
            <a:spAutoFit/>
          </a:bodyPr>
          <a:lstStyle/>
          <a:p>
            <a:pPr algn="ctr"/>
            <a:r>
              <a:rPr sz="1800" b="1">
                <a:solidFill>
                  <a:srgbClr val="FFFFFF"/>
                </a:solidFill>
                <a:latin typeface="Arial"/>
              </a:rPr>
              <a:t>2</a:t>
            </a:r>
          </a:p>
        </p:txBody>
      </p:sp>
      <p:sp>
        <p:nvSpPr>
          <p:cNvPr id="19" name="TextBox 18"/>
          <p:cNvSpPr txBox="1"/>
          <p:nvPr/>
        </p:nvSpPr>
        <p:spPr>
          <a:xfrm>
            <a:off x="1554480" y="2816352"/>
            <a:ext cx="9875520" cy="365760"/>
          </a:xfrm>
          <a:prstGeom prst="rect">
            <a:avLst/>
          </a:prstGeom>
          <a:noFill/>
        </p:spPr>
        <p:txBody>
          <a:bodyPr wrap="square" lIns="45720" tIns="18288" rIns="45720" bIns="18288" anchor="t">
            <a:spAutoFit/>
          </a:bodyPr>
          <a:lstStyle/>
          <a:p>
            <a:pPr algn="l"/>
            <a:r>
              <a:rPr sz="1500" b="1">
                <a:solidFill>
                  <a:srgbClr val="1E2761"/>
                </a:solidFill>
                <a:latin typeface="Arial"/>
              </a:rPr>
              <a:t>Prioritise FL, CA, PA</a:t>
            </a:r>
          </a:p>
        </p:txBody>
      </p:sp>
      <p:sp>
        <p:nvSpPr>
          <p:cNvPr id="20" name="TextBox 19"/>
          <p:cNvSpPr txBox="1"/>
          <p:nvPr/>
        </p:nvSpPr>
        <p:spPr>
          <a:xfrm>
            <a:off x="1554480" y="3136392"/>
            <a:ext cx="9875520" cy="457200"/>
          </a:xfrm>
          <a:prstGeom prst="rect">
            <a:avLst/>
          </a:prstGeom>
          <a:noFill/>
        </p:spPr>
        <p:txBody>
          <a:bodyPr wrap="square" lIns="45720" tIns="18288" rIns="45720" bIns="18288" anchor="t">
            <a:spAutoFit/>
          </a:bodyPr>
          <a:lstStyle/>
          <a:p>
            <a:pPr algn="l"/>
            <a:r>
              <a:rPr sz="1100" b="0">
                <a:solidFill>
                  <a:srgbClr val="555A6B"/>
                </a:solidFill>
                <a:latin typeface="Arial"/>
              </a:rPr>
              <a:t>These three states deliver 40% of revenue. Concentrate marketing spend and lead the Q1 push there.</a:t>
            </a:r>
          </a:p>
        </p:txBody>
      </p:sp>
      <p:sp>
        <p:nvSpPr>
          <p:cNvPr id="21" name="Rectangle 20"/>
          <p:cNvSpPr/>
          <p:nvPr/>
        </p:nvSpPr>
        <p:spPr>
          <a:xfrm>
            <a:off x="548640" y="3621024"/>
            <a:ext cx="11064240" cy="822960"/>
          </a:xfrm>
          <a:prstGeom prst="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48640" y="3621024"/>
            <a:ext cx="109728" cy="822960"/>
          </a:xfrm>
          <a:prstGeom prst="rect">
            <a:avLst/>
          </a:prstGeom>
          <a:solidFill>
            <a:srgbClr val="FBC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68680" y="3785616"/>
            <a:ext cx="502920"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68680" y="3785616"/>
            <a:ext cx="502920" cy="502920"/>
          </a:xfrm>
          <a:prstGeom prst="rect">
            <a:avLst/>
          </a:prstGeom>
          <a:noFill/>
        </p:spPr>
        <p:txBody>
          <a:bodyPr wrap="square" lIns="45720" tIns="18288" rIns="45720" bIns="18288" anchor="ctr">
            <a:spAutoFit/>
          </a:bodyPr>
          <a:lstStyle/>
          <a:p>
            <a:pPr algn="ctr"/>
            <a:r>
              <a:rPr sz="1800" b="1">
                <a:solidFill>
                  <a:srgbClr val="FFFFFF"/>
                </a:solidFill>
                <a:latin typeface="Arial"/>
              </a:rPr>
              <a:t>3</a:t>
            </a:r>
          </a:p>
        </p:txBody>
      </p:sp>
      <p:sp>
        <p:nvSpPr>
          <p:cNvPr id="25" name="TextBox 24"/>
          <p:cNvSpPr txBox="1"/>
          <p:nvPr/>
        </p:nvSpPr>
        <p:spPr>
          <a:xfrm>
            <a:off x="1554480" y="3712464"/>
            <a:ext cx="9875520" cy="365760"/>
          </a:xfrm>
          <a:prstGeom prst="rect">
            <a:avLst/>
          </a:prstGeom>
          <a:noFill/>
        </p:spPr>
        <p:txBody>
          <a:bodyPr wrap="square" lIns="45720" tIns="18288" rIns="45720" bIns="18288" anchor="t">
            <a:spAutoFit/>
          </a:bodyPr>
          <a:lstStyle/>
          <a:p>
            <a:pPr algn="l"/>
            <a:r>
              <a:rPr sz="1500" b="1">
                <a:solidFill>
                  <a:srgbClr val="1E2761"/>
                </a:solidFill>
                <a:latin typeface="Arial"/>
              </a:rPr>
              <a:t>Plan for the Q1 surge</a:t>
            </a:r>
          </a:p>
        </p:txBody>
      </p:sp>
      <p:sp>
        <p:nvSpPr>
          <p:cNvPr id="26" name="TextBox 25"/>
          <p:cNvSpPr txBox="1"/>
          <p:nvPr/>
        </p:nvSpPr>
        <p:spPr>
          <a:xfrm>
            <a:off x="1554480" y="4032504"/>
            <a:ext cx="9875520" cy="457200"/>
          </a:xfrm>
          <a:prstGeom prst="rect">
            <a:avLst/>
          </a:prstGeom>
          <a:noFill/>
        </p:spPr>
        <p:txBody>
          <a:bodyPr wrap="square" lIns="45720" tIns="18288" rIns="45720" bIns="18288" anchor="t">
            <a:spAutoFit/>
          </a:bodyPr>
          <a:lstStyle/>
          <a:p>
            <a:pPr algn="l"/>
            <a:r>
              <a:rPr sz="1100" b="0">
                <a:solidFill>
                  <a:srgbClr val="555A6B"/>
                </a:solidFill>
                <a:latin typeface="Arial"/>
              </a:rPr>
              <a:t>Pre-position stock and staffing for Jan–Feb; investigate the Mar drop to recover lost units.</a:t>
            </a:r>
          </a:p>
        </p:txBody>
      </p:sp>
      <p:sp>
        <p:nvSpPr>
          <p:cNvPr id="27" name="Rectangle 26"/>
          <p:cNvSpPr/>
          <p:nvPr/>
        </p:nvSpPr>
        <p:spPr>
          <a:xfrm>
            <a:off x="548640" y="4517136"/>
            <a:ext cx="11064240" cy="822960"/>
          </a:xfrm>
          <a:prstGeom prst="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548640" y="4517136"/>
            <a:ext cx="109728" cy="822960"/>
          </a:xfrm>
          <a:prstGeom prst="rect">
            <a:avLst/>
          </a:prstGeom>
          <a:solidFill>
            <a:srgbClr val="FBC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68680" y="4681728"/>
            <a:ext cx="502920"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68680" y="4681728"/>
            <a:ext cx="502920" cy="502920"/>
          </a:xfrm>
          <a:prstGeom prst="rect">
            <a:avLst/>
          </a:prstGeom>
          <a:noFill/>
        </p:spPr>
        <p:txBody>
          <a:bodyPr wrap="square" lIns="45720" tIns="18288" rIns="45720" bIns="18288" anchor="ctr">
            <a:spAutoFit/>
          </a:bodyPr>
          <a:lstStyle/>
          <a:p>
            <a:pPr algn="ctr"/>
            <a:r>
              <a:rPr sz="1800" b="1">
                <a:solidFill>
                  <a:srgbClr val="FFFFFF"/>
                </a:solidFill>
                <a:latin typeface="Arial"/>
              </a:rPr>
              <a:t>4</a:t>
            </a:r>
          </a:p>
        </p:txBody>
      </p:sp>
      <p:sp>
        <p:nvSpPr>
          <p:cNvPr id="31" name="TextBox 30"/>
          <p:cNvSpPr txBox="1"/>
          <p:nvPr/>
        </p:nvSpPr>
        <p:spPr>
          <a:xfrm>
            <a:off x="1554480" y="4608576"/>
            <a:ext cx="9875520" cy="365760"/>
          </a:xfrm>
          <a:prstGeom prst="rect">
            <a:avLst/>
          </a:prstGeom>
          <a:noFill/>
        </p:spPr>
        <p:txBody>
          <a:bodyPr wrap="square" lIns="45720" tIns="18288" rIns="45720" bIns="18288" anchor="t">
            <a:spAutoFit/>
          </a:bodyPr>
          <a:lstStyle/>
          <a:p>
            <a:pPr algn="l"/>
            <a:r>
              <a:rPr sz="1500" b="1">
                <a:solidFill>
                  <a:srgbClr val="1E2761"/>
                </a:solidFill>
                <a:latin typeface="Arial"/>
              </a:rPr>
              <a:t>Lead with Sedan + SUV</a:t>
            </a:r>
          </a:p>
        </p:txBody>
      </p:sp>
      <p:sp>
        <p:nvSpPr>
          <p:cNvPr id="32" name="TextBox 31"/>
          <p:cNvSpPr txBox="1"/>
          <p:nvPr/>
        </p:nvSpPr>
        <p:spPr>
          <a:xfrm>
            <a:off x="1554480" y="4928616"/>
            <a:ext cx="9875520" cy="457200"/>
          </a:xfrm>
          <a:prstGeom prst="rect">
            <a:avLst/>
          </a:prstGeom>
          <a:noFill/>
        </p:spPr>
        <p:txBody>
          <a:bodyPr wrap="square" lIns="45720" tIns="18288" rIns="45720" bIns="18288" anchor="t">
            <a:spAutoFit/>
          </a:bodyPr>
          <a:lstStyle/>
          <a:p>
            <a:pPr algn="l"/>
            <a:r>
              <a:rPr sz="1100" b="0">
                <a:solidFill>
                  <a:srgbClr val="555A6B"/>
                </a:solidFill>
                <a:latin typeface="Arial"/>
              </a:rPr>
              <a:t>Keep sedans for volume, SUVs for value. Trim slow body types (minivan, hatchback) on poor margin.</a:t>
            </a:r>
          </a:p>
        </p:txBody>
      </p:sp>
      <p:sp>
        <p:nvSpPr>
          <p:cNvPr id="33" name="Rectangle 32"/>
          <p:cNvSpPr/>
          <p:nvPr/>
        </p:nvSpPr>
        <p:spPr>
          <a:xfrm>
            <a:off x="548640" y="5413248"/>
            <a:ext cx="11064240" cy="822960"/>
          </a:xfrm>
          <a:prstGeom prst="rect">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48640" y="5413248"/>
            <a:ext cx="109728" cy="822960"/>
          </a:xfrm>
          <a:prstGeom prst="rect">
            <a:avLst/>
          </a:prstGeom>
          <a:solidFill>
            <a:srgbClr val="FBC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68680" y="5577840"/>
            <a:ext cx="502920"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68680" y="5577840"/>
            <a:ext cx="502920" cy="502920"/>
          </a:xfrm>
          <a:prstGeom prst="rect">
            <a:avLst/>
          </a:prstGeom>
          <a:noFill/>
        </p:spPr>
        <p:txBody>
          <a:bodyPr wrap="square" lIns="45720" tIns="18288" rIns="45720" bIns="18288" anchor="ctr">
            <a:spAutoFit/>
          </a:bodyPr>
          <a:lstStyle/>
          <a:p>
            <a:pPr algn="ctr"/>
            <a:r>
              <a:rPr sz="1800" b="1">
                <a:solidFill>
                  <a:srgbClr val="FFFFFF"/>
                </a:solidFill>
                <a:latin typeface="Arial"/>
              </a:rPr>
              <a:t>5</a:t>
            </a:r>
          </a:p>
        </p:txBody>
      </p:sp>
      <p:sp>
        <p:nvSpPr>
          <p:cNvPr id="37" name="TextBox 36"/>
          <p:cNvSpPr txBox="1"/>
          <p:nvPr/>
        </p:nvSpPr>
        <p:spPr>
          <a:xfrm>
            <a:off x="1554480" y="5504688"/>
            <a:ext cx="9875520" cy="365760"/>
          </a:xfrm>
          <a:prstGeom prst="rect">
            <a:avLst/>
          </a:prstGeom>
          <a:noFill/>
        </p:spPr>
        <p:txBody>
          <a:bodyPr wrap="square" lIns="45720" tIns="18288" rIns="45720" bIns="18288" anchor="t">
            <a:spAutoFit/>
          </a:bodyPr>
          <a:lstStyle/>
          <a:p>
            <a:pPr algn="l"/>
            <a:r>
              <a:rPr sz="1500" b="1">
                <a:solidFill>
                  <a:srgbClr val="1E2761"/>
                </a:solidFill>
                <a:latin typeface="Arial"/>
              </a:rPr>
              <a:t>Fix the margin mix</a:t>
            </a:r>
          </a:p>
        </p:txBody>
      </p:sp>
      <p:sp>
        <p:nvSpPr>
          <p:cNvPr id="38" name="TextBox 37"/>
          <p:cNvSpPr txBox="1"/>
          <p:nvPr/>
        </p:nvSpPr>
        <p:spPr>
          <a:xfrm>
            <a:off x="1554480" y="5824728"/>
            <a:ext cx="9875520" cy="457200"/>
          </a:xfrm>
          <a:prstGeom prst="rect">
            <a:avLst/>
          </a:prstGeom>
          <a:noFill/>
        </p:spPr>
        <p:txBody>
          <a:bodyPr wrap="square" lIns="45720" tIns="18288" rIns="45720" bIns="18288" anchor="t">
            <a:spAutoFit/>
          </a:bodyPr>
          <a:lstStyle/>
          <a:p>
            <a:pPr algn="l"/>
            <a:r>
              <a:rPr sz="1100" b="0">
                <a:solidFill>
                  <a:srgbClr val="555A6B"/>
                </a:solidFill>
                <a:latin typeface="Arial"/>
              </a:rPr>
              <a:t>Move 5% of Low-Margin units up a tier through pricing &amp; trim — biggest profit lever in the dataset.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2377440"/>
            <a:ext cx="1828800" cy="73152"/>
          </a:xfrm>
          <a:prstGeom prst="rect">
            <a:avLst/>
          </a:prstGeom>
          <a:solidFill>
            <a:srgbClr val="FBC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2651760"/>
            <a:ext cx="10972800" cy="1097280"/>
          </a:xfrm>
          <a:prstGeom prst="rect">
            <a:avLst/>
          </a:prstGeom>
          <a:noFill/>
        </p:spPr>
        <p:txBody>
          <a:bodyPr wrap="square" lIns="45720" tIns="18288" rIns="45720" bIns="18288" anchor="t">
            <a:spAutoFit/>
          </a:bodyPr>
          <a:lstStyle/>
          <a:p>
            <a:pPr algn="l"/>
            <a:r>
              <a:rPr sz="6400" b="1">
                <a:solidFill>
                  <a:srgbClr val="FFFFFF"/>
                </a:solidFill>
                <a:latin typeface="Arial"/>
              </a:rPr>
              <a:t>Thank you.</a:t>
            </a:r>
          </a:p>
        </p:txBody>
      </p:sp>
      <p:sp>
        <p:nvSpPr>
          <p:cNvPr id="5" name="TextBox 4"/>
          <p:cNvSpPr txBox="1"/>
          <p:nvPr/>
        </p:nvSpPr>
        <p:spPr>
          <a:xfrm>
            <a:off x="640080" y="3749039"/>
            <a:ext cx="10972800" cy="548640"/>
          </a:xfrm>
          <a:prstGeom prst="rect">
            <a:avLst/>
          </a:prstGeom>
          <a:noFill/>
        </p:spPr>
        <p:txBody>
          <a:bodyPr wrap="square" lIns="45720" tIns="18288" rIns="45720" bIns="18288" anchor="t">
            <a:spAutoFit/>
          </a:bodyPr>
          <a:lstStyle/>
          <a:p>
            <a:pPr algn="l"/>
            <a:r>
              <a:rPr sz="2200" b="0">
                <a:solidFill>
                  <a:srgbClr val="CADCFC"/>
                </a:solidFill>
                <a:latin typeface="Arial"/>
              </a:rPr>
              <a:t>Questions, ideas, next experiments — let's discuss.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TotalTime>
  <Words>1152</Words>
  <Application>Microsoft Office PowerPoint</Application>
  <PresentationFormat>Widescreen</PresentationFormat>
  <Paragraphs>187</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Prim Mukwesha</dc:creator>
  <cp:keywords/>
  <dc:description>generated using python-pptx</dc:description>
  <cp:lastModifiedBy>DELL</cp:lastModifiedBy>
  <cp:revision>2</cp:revision>
  <dcterms:created xsi:type="dcterms:W3CDTF">2013-01-27T09:14:16Z</dcterms:created>
  <dcterms:modified xsi:type="dcterms:W3CDTF">2026-05-03T13:50:31Z</dcterms:modified>
  <cp:category/>
</cp:coreProperties>
</file>